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61999" y="889000"/>
            <a:ext cx="10667999" cy="508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269999" y="1270000"/>
            <a:ext cx="2031999" cy="3175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  <a:latin typeface="Microsoft JhengHei"/>
              </a:defRPr>
            </a:pPr>
            <a:r>
              <a:t>115 學年度 第一學期 班親會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69999" y="1778000"/>
            <a:ext cx="9524999" cy="76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C5E8A"/>
                </a:solidFill>
                <a:latin typeface="Microsoft JhengHei"/>
              </a:defRPr>
            </a:pPr>
            <a:r>
              <a:t>航向未來的起點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69999" y="2476499"/>
            <a:ext cx="9524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臺中市沙鹿區鹿陽國民小學 六年一班</a:t>
            </a:r>
          </a:p>
        </p:txBody>
      </p:sp>
      <p:sp>
        <p:nvSpPr>
          <p:cNvPr id="7" name="Rectangle 6"/>
          <p:cNvSpPr/>
          <p:nvPr/>
        </p:nvSpPr>
        <p:spPr>
          <a:xfrm>
            <a:off x="1269999" y="2984500"/>
            <a:ext cx="9651999" cy="254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69999" y="3174999"/>
            <a:ext cx="9524999" cy="152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2000" b="1">
                <a:solidFill>
                  <a:srgbClr val="2D3748"/>
                </a:solidFill>
                <a:latin typeface="Microsoft JhengHei"/>
              </a:defRPr>
            </a:pPr>
            <a:r>
              <a:t>✨  先相信孩子，再慢慢理解與引導</a:t>
            </a:r>
          </a:p>
          <a:p>
            <a:pPr>
              <a:spcBef>
                <a:spcPts val="1400"/>
              </a:spcBef>
              <a:defRPr sz="2000" b="1">
                <a:solidFill>
                  <a:srgbClr val="2D3748"/>
                </a:solidFill>
                <a:latin typeface="Microsoft JhengHei"/>
              </a:defRPr>
            </a:pPr>
            <a:r>
              <a:t>✨  自主學習與愛閱家庭，深耕閱讀日常</a:t>
            </a:r>
          </a:p>
          <a:p>
            <a:pPr>
              <a:spcBef>
                <a:spcPts val="1400"/>
              </a:spcBef>
              <a:defRPr sz="2000" b="1">
                <a:solidFill>
                  <a:srgbClr val="2D3748"/>
                </a:solidFill>
                <a:latin typeface="Microsoft JhengHei"/>
              </a:defRPr>
            </a:pPr>
            <a:r>
              <a:t>✨  科技是翅膀而非猛獸，善用 3C 賦能成長</a:t>
            </a:r>
          </a:p>
          <a:p>
            <a:pPr>
              <a:spcBef>
                <a:spcPts val="1400"/>
              </a:spcBef>
              <a:defRPr sz="2000" b="1">
                <a:solidFill>
                  <a:srgbClr val="2D3748"/>
                </a:solidFill>
                <a:latin typeface="Microsoft JhengHei"/>
              </a:defRPr>
            </a:pPr>
            <a:r>
              <a:t>✨  親師攜手同行，做孩子最溫暖堅實的後盾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69999" y="4952999"/>
            <a:ext cx="3428999" cy="3809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800" b="1">
                <a:solidFill>
                  <a:srgbClr val="FFFFFF"/>
                </a:solidFill>
                <a:latin typeface="Microsoft JhengHei"/>
              </a:defRPr>
            </a:pPr>
            <a:r>
              <a:t>導師：高志賢 老師（手機：0963-159-896）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走進青春期：孩子的拔節成長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看見孩子升上小六的轉變・從依賴走向獨立的微妙時刻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11175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746250"/>
            <a:ext cx="825499" cy="2286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常規穩定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14499" y="1714500"/>
            <a:ext cx="9715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5E8A"/>
                </a:solidFill>
                <a:latin typeface="Microsoft JhengHei"/>
              </a:defRPr>
            </a:pPr>
            <a:r>
              <a:t>班級步入常軌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063749"/>
            <a:ext cx="10667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開學至今，全班展現極佳的常規與凝聚力。</a:t>
            </a:r>
          </a:p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學習態度認真專注，生活作息穩定踏實。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999" y="2825750"/>
            <a:ext cx="11175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999" y="2984500"/>
            <a:ext cx="825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獨立探索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4499" y="2952750"/>
            <a:ext cx="9715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自主意識萌芽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1999" y="3301999"/>
            <a:ext cx="10667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孩子開始有獨立主見，思考更加深入廣闊。</a:t>
            </a:r>
          </a:p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渴望用自己的方式探索世界與解決問題。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999" y="4064000"/>
            <a:ext cx="11175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1999" y="4222750"/>
            <a:ext cx="825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平等對話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14499" y="4190999"/>
            <a:ext cx="9715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渴望被尊重與理解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1999" y="4540250"/>
            <a:ext cx="10667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這不是叛逆，而是孩子正在練習長大成熟。</a:t>
            </a:r>
          </a:p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需要親師用溫暖包容、平等視角接納引導。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導師陪伴心法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接納孩子的不完美，看見行為背後渴望長大的努力，就是最好的陪伴。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高老師的陪伴哲學：先相信，再理解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以愛與尊重為基石・搭起親師生互信的橋樑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33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教育核心信念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222500"/>
            <a:ext cx="4825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在我的教室，絕不有罪推定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794000"/>
            <a:ext cx="4825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面對衝突或犯錯，先接住孩子的情緒，再聽孩子說完。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每個令人困惑的行為背後，都有未被滿足的心理需求。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讓孩子敢於說真話、願意承認錯誤，建立安全感與信任感。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給孩子容錯的空間，犯錯是學會負責任的最佳起點。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999" y="1587499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9999" y="1746250"/>
            <a:ext cx="698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原則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5499" y="171450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探究行為背後動機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999" y="206374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不急於貼標籤，先了解孩子的起心動念與委屈。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999" y="282575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999" y="2984500"/>
            <a:ext cx="698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原則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5499" y="295275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接納情緒再談對錯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9999" y="330199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情緒高漲時不講大道理，待平靜後再引導反思修正。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999" y="406400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9999" y="4222750"/>
            <a:ext cx="698499" cy="2286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原則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5499" y="4190999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8E26"/>
                </a:solidFill>
                <a:latin typeface="Microsoft JhengHei"/>
              </a:defRPr>
            </a:pPr>
            <a:r>
              <a:t>安全感建立自律力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999" y="4540250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當孩子感受到被全然接納，內在的自律才會真正萌芽。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先相信再理解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教育不是注滿一桶水，而是點燃一把火；先相信，才能看見孩子的無限可能。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SEL 心靈金句：培養挫折復原力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社會情緒學習（Social Emotional Learning）・讓心靈更強韌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心靈金句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面對不成功的能力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76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5E8A"/>
                </a:solidFill>
                <a:latin typeface="Microsoft JhengHei"/>
              </a:defRPr>
            </a:pPr>
            <a:r>
              <a:t>「孩子需要的，不只是成功，</a:t>
            </a:r>
            <a:br/>
            <a:r>
              <a:t>而是面對不成功的能力。」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0249" y="3492500"/>
            <a:ext cx="2984499" cy="152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跌倒不是失敗，而是成長的必經練習。親師共同接納暫時的挫折，陪孩子長出韌性。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心靈金句 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5E8A"/>
                </a:solidFill>
                <a:latin typeface="Microsoft JhengHei"/>
              </a:defRPr>
            </a:pPr>
            <a:r>
              <a:t>懂得適時主動借力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4999" y="2603499"/>
            <a:ext cx="2984499" cy="76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5E8A"/>
                </a:solidFill>
                <a:latin typeface="Microsoft JhengHei"/>
              </a:defRPr>
            </a:pPr>
            <a:r>
              <a:t>「求助不是我很弱，</a:t>
            </a:r>
            <a:br/>
            <a:r>
              <a:t>而是懂得適時借力。」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4999" y="3492500"/>
            <a:ext cx="2984499" cy="152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引導孩子開口求助，懂得調動身邊資源，主動尋求支持是強大且成熟的生存智慧。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心靈金句 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把挫折當作墊腳石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59749" y="2603499"/>
            <a:ext cx="2984499" cy="761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C5E8A"/>
                </a:solidFill>
                <a:latin typeface="Microsoft JhengHei"/>
              </a:defRPr>
            </a:pPr>
            <a:r>
              <a:t>「每一個挑戰與困境，</a:t>
            </a:r>
            <a:br/>
            <a:r>
              <a:t>都是自我升級的契機。」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59749" y="3492500"/>
            <a:ext cx="2984499" cy="1523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在六年一班，失敗被視為最珍貴的學習資產。從中反思檢視，才能奠定國中基石。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SEL 核心價值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強大的心靈不是從不跌倒，而是每次跌倒後都能勇敢拍拍灰塵、微笑站起！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SEL 行動引導：情緒調節三步驟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親師同步引導心法・為孩子打造強韌的情商防護罩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覺察與接納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步驟一：看見與說出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當情緒湧現時，先引導孩子平靜辨識感受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引導說出「我現在覺得很生氣/挫折」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不急著說「這有什麼好哭的」，全然接納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名字被叫出來的情緒，殺傷力減半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沉澱大腦衝動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步驟二：暫停一下深呼吸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給予 30 秒至 1 分鐘的緩衝暫停空間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練習深呼吸或喝一口溫開水調節自律神經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待情緒大腦退潮，理性思維大腦重新上線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避免在氣頭上口出惡言或做出衝動決定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尋求策略解答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步驟三：拆解困難找資源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把巨大的難題拆解為具體的小步驟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引導孩子列出「我現在可以做的三件事」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鼓勵主動向老師、父母或同學發出求助訊號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在行動中找回掌控感，重拾自信笑容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親師共育承諾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情緒沒有對錯，行為才需要引導。親師步調一致，做孩子情緒暴風圈中的定海神針。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自主學習力：從被動監督到自主規劃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自律帶來真正的自由・六年級升學必備關鍵核心素養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33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核心素養導引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222500"/>
            <a:ext cx="4825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由被動催促轉化為自我當責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794000"/>
            <a:ext cx="4825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告別家長在身後緊迫盯人的模式，學習對自己的學業當責。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建立清晰的時間認知，學會權衡休閒與學習的優先順序。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培養檢視錯題並追根究底的習慣，不畏懼不懂，只在乎弄懂。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六年級鍛鍊出的自律節奏，將是銜接國中課業的最大優勢。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999" y="1587499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9999" y="1746250"/>
            <a:ext cx="698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心法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5499" y="171450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自主訂定進度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999" y="206374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每日自行規劃完成作業與複習的時間表，學會切分任務。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999" y="282575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999" y="2984500"/>
            <a:ext cx="698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心法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5499" y="295275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建立檢核反思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9999" y="330199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睡前花 5 分鐘自我檢視今日完成度，找出明日調整重點。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999" y="406400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9999" y="4222750"/>
            <a:ext cx="698499" cy="2286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心法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5499" y="4190999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8E26"/>
                </a:solidFill>
                <a:latin typeface="Microsoft JhengHei"/>
              </a:defRPr>
            </a:pPr>
            <a:r>
              <a:t>時間輕重緩急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999" y="4540250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區分「重要且緊急」與「放鬆娛樂」，掌握人生主控權。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自主學習宣言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放手不是不管，而是信任孩子能掌控自己的人生方向盤！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愛閱家庭推動：臺中市雲端智慧存摺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自主學習由閱讀扎根・雲端存款簿記錄親子共讀溫馨時光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33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41500"/>
            <a:ext cx="10159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愛閱家庭精神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222500"/>
            <a:ext cx="4825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深耕閱讀，豐富心靈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794000"/>
            <a:ext cx="4825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i 閱（自我實踐）：閱讀是自己的事，大人與孩子身體力行。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愛閱（熱愛閱讀）：把閱讀當成生活享受，而非沉重負擔。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愛閱（家庭之愛）：透過共讀增進情感，凝聚家庭溫暖時光。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每日共讀 20 分鐘：每天只要 20 分鐘，共創書香溫馨家庭。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999" y="1587499"/>
            <a:ext cx="5587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99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重要行政日程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9999" y="2222500"/>
            <a:ext cx="5079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雲端登錄與集點流程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999" y="2794000"/>
            <a:ext cx="5079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登錄網站平台：臺中市愛閱家庭（雲端智慧存摺系統）。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家長線上申請期：115.09.16 ～ 115.10.25（自行註冊）。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正式登錄起算日：115.11.01 起，每月共讀滿 20 天即達標！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閱讀達人榮譽獎：連續達成任務，頒發教育局獎狀與證書！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教務處叮嚀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閱讀是給孩子一輩子最好的禮物；每天 20 分鐘，累積看得見的成長與智慧！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【數位閱讀資源】市府數位閱讀寶庫：國語日報 ＆ Hami 書城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臺中市政府全額授權・國中小師生專屬福利・免排隊零等待・豐富多元閱讀視野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23999"/>
            <a:ext cx="5397499" cy="380999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746250"/>
            <a:ext cx="13969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臺中市教育局全額授權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095499"/>
            <a:ext cx="4889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E88D67"/>
                </a:solidFill>
                <a:latin typeface="Microsoft JhengHei"/>
              </a:defRPr>
            </a:pPr>
            <a:r>
              <a:t>國語日報數位精選版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603499"/>
            <a:ext cx="4889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全文注音與 AI 朗讀：支援真人與語音導讀，識字與理解雙軌並進。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108 課綱跨域議題：每日更新國內外時事、科普新知與兒少專題。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線上素養閱讀挑戰：附帶理解評量與思考提問單，及時檢核成效。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登入使用方式：前往 https://mdnereading.mdnkids.com/ 瀏覽體驗。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499" y="1523999"/>
            <a:ext cx="5524499" cy="3809999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13499" y="1746250"/>
            <a:ext cx="1396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全市師生萬人同時在線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13499" y="2095499"/>
            <a:ext cx="5016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C5E8A"/>
                </a:solidFill>
                <a:latin typeface="Microsoft JhengHei"/>
              </a:defRPr>
            </a:pPr>
            <a:r>
              <a:t>Hami 書城數位閱讀平台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3499" y="2603499"/>
            <a:ext cx="5016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180+ 種熱門期刊童書：少兒科學、歷史傳記、世界地理豐富繪本。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零等待萬人同時在線：全班可同時間借閱同一本電子書，零等待排隊。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跨載具支援離線閱讀：手機、平板、電腦皆可登入，支援離線下載。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登入使用方式：前往 https://www.hamibook.com.tw/Homes/book 閱讀。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高老師導引心法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平板不只是遊戲機，善用市府公有數位閱讀資源，就是孩子隨身攜帶的整座圖書館！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09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【親師生共讀共融】親子共訂學期閱讀計畫與專屬書單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告別被動交代・依照孩子興趣探討書單・從量變到質變・培養終身自主閱讀力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對話與傾聽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步驟一：探討專屬書單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與孩子坐下來聊聊感興趣的領域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兼顧「休閒純讀物」與「長篇挑戰」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尊重孩子選書權，激發內在熱情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納入國語日報與《冒險齒輪》長文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可執行的節奏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步驟二：訂定閱讀目標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2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每日固定 20 分鐘無干擾閱讀時間</a:t>
            </a:r>
          </a:p>
          <a:p>
            <a:pPr>
              <a:spcBef>
                <a:spcPts val="22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設定每週或每月閱讀本數（量力而為）</a:t>
            </a:r>
          </a:p>
          <a:p>
            <a:pPr>
              <a:spcBef>
                <a:spcPts val="22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結合愛閱家庭雲端存摺記錄成長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深化高階思維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步驟三：共讀提問分享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不考「書裡說什麼」，問「你怎麼看」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「如果是你，會做出什麼不同選擇？」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鼓勵孩子口頭分享或記錄精彩金句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讓孩子感受閱讀觀點被重視的成就感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導師陪伴心法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「最好的閱讀計畫不是完美清單，而是每晚親子並肩翻開書頁、促膝長談的溫暖時光。」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【自主閱讀深耕】AI 雲端閱讀理解認證平台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高老師運用 Google AI Studio 親自研發・以理解代替死記・啟發深層思考與表達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緊扣主題時事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導師精選文本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配合單元進度與生活時事話題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涵蓋人文科普與情緒素養文章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文章長度適中且富有思考深度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扎根六年級跨領域自主探究力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用自己的話作答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理解代替死記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告別選擇題與找關鍵字抄答案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針對文章核心主旨與推論做答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鼓勵打字抒發個人真實看法觀點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鍛鍊高階文字組織與思維表達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智慧互動回饋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Google AI 賦能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AI 助教即時賞識肯定孩子思考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引導孩子發現盲點展開深入探究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接納多元視角，建立自信與成就感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解鎖閱讀認證，激發自主自律力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高老師的初心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把科技化為學習翅膀，讓孩子在對話中學會深度思考與理解！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【長篇閱讀深耕】《冒險齒輪》少兒原創小說庫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高老師親自開發・中英即時對照・語音朗讀・引導孩子靜心閱讀長篇小說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克服長文恐懼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原創長篇小說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少兒專屬原創科幻解謎長篇故事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告別只看漫畫與短影片碎片習慣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懸疑緊湊情節引領深度沉浸體驗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循序漸進培養長文專注與耐心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打破語言隔閡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中英雙語對照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中文與英文即時切換並列呈現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照顧英語佳但中文吃力的多元孩子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雙語沉浸對照，自然拓展雙語力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無障礙共享沉浸閱讀冒險的樂趣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多感官沉浸體驗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智慧語音朗讀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內建語音朗讀有聲書隨點隨聽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照顧不同學習特質與吸收風格風格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解謎實驗室與專屬個人閱讀成就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激發孩子主動追讀的內在學習動力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閱讀跨界賦能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點燃對文字的渴望，閱讀長文不再是苦差事，而是一場欲罷不能的冒險！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3C 學習哲學：科技是翅膀而非猛獸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擁抱數位時代・正向賦能更勝全面防堵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33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翻轉傳統觀念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222500"/>
            <a:ext cx="4825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科技是數位原住民的翅膀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794000"/>
            <a:ext cx="4825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3C 不是猛獸，全面嚴禁只會激發孩子更強烈的好奇與反彈。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引導孩子將平板與手機從「娛樂玩具」轉變為「強大生產力工具」。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在安全界線內，教導孩子駕馭科技，成為數位世界的主人而非奴隸。</a:t>
            </a:r>
          </a:p>
          <a:p>
            <a:pPr>
              <a:spcBef>
                <a:spcPts val="14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培養查核假訊息、善用搜尋引擎的資訊辨識力，邁向終身學習。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5999" y="1587499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49999" y="1746250"/>
            <a:ext cx="698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賦能 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5499" y="171450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百科查證好幫手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49999" y="206374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遇到未知詞彙或科學原理，第一時間查詢权威資料深入了解。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95999" y="282575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49999" y="2984500"/>
            <a:ext cx="698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賦能 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5499" y="2952750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自主學習好助教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9999" y="3301999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善用教育平臺看教學解說、反覆練習弱項，自主攻克難題。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095999" y="4064000"/>
            <a:ext cx="5587999" cy="1079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9999" y="4222750"/>
            <a:ext cx="698499" cy="2286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賦能 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5499" y="4190999"/>
            <a:ext cx="43179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D98E26"/>
                </a:solidFill>
                <a:latin typeface="Microsoft JhengHei"/>
              </a:defRPr>
            </a:pPr>
            <a:r>
              <a:t>生活探索新視野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49999" y="4540250"/>
            <a:ext cx="5079999" cy="4762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透過數位工具學習程式、繪圖、音樂，激發多元潛能與天賦。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導師理念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善用 3C 賦能成長，讓科技成為孩子探索浩瀚世界最堅實的翅膀！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數位自律公約：親師一致的健康使用準則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有邊界的自由才是真自律・親師攜手為孩子的視力與睡眠把關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屏幕時間管理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時限約定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與孩子共同討論約定每日使用時限（如 30~40 分鐘）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用定時器輔助提醒，時間一到自覺放下裝置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落實「護眼 3010 原則」：用眼 30 分鐘休息 10 分鐘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把螢幕使用當作完成主要責任後的獎勵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確保深層睡眠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睡前管理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睡前 1 小時全家放下 3C 設備，遠離藍光刺激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手機、平板夜間不進臥房充電，置於客廳公共區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以親子談心或睡前閱讀替代滑手機入眠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充足深層睡眠是六年級大腦拔節發育的基石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拒絕多工分心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專注習慣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書桌只留學習用品，寫作業時手機收進抽屜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專注學習時不開啟社群通訊或遊戲背景音樂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訓練一次只做好一件事的「單工深度專注力」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親師以身作則，在孩子面前放下手機專注陪伴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親師共識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親師原則步調一致，孩子才不會鑽漏洞；溫和而堅定，陪孩子長出自律肌肉！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校園衛教守則：正確洗手與呼吸道禮節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守護健康學習環境・落實個人衛生習慣・預防群聚感染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徹底清潔雙手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洗手七字訣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落實「內、外、夾、弓、大、立、腕」洗手七步驟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用肥皂搓洗雙手至少 40 秒，徹底清除病菌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進教室前、吃點心與午餐前、如廁後確實洗手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用乾淨紙巾或手帕擦乾，避免潮濕滋生細菌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阻斷飛沫傳播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呼吸道衛生禮節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咳嗽或打噴嚏時，以手肘衣袖或面紙遮掩口鼻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有感冒呼吸道症狀時，在校全程主動配戴口罩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沾染口鼻分泌物之衛生紙，務必直接丟入垃圾桶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尊重同儕健康，從小處展現體貼與公德心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維持空氣清新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環境通風對流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教室隨時保持對角開窗 15 公分以上，確保空氣流通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即使開啟冷氣，對角通風縫隙依然不可緊閉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定時以稀釋漂白水擦拭課桌椅、門把與公共用品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打造空氣清新對流、安全無虞的優質教室環境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衛教中心叮嚀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健康是所有學習的前提；良好個人衛生習慣，守護自己也保護全班同學！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校園健康守護：環境通風與發燒休養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不適在家安心休養・退燒滿 24 小時再返校・守護全班同儕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安心在家康復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發燒休養準則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額溫 ≥37.5℃ 或耳溫 ≥38.0℃，請勿到校，在家休養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在未使用退燒藥情形下，完全退燒滿 24 小時後始得返校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生病不是偷懶，安心休養才能加速身體免疫修復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請家長第一時間通報導師，讓學校掌握健康狀況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防範群聚感染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傳染病主動通報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確診流感、新冠、腸病毒或水痘等，請立即通報導師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配合衛生局及校園防疫指引完成法定居家隔離天數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導師將啟動關懷機制，並協助課業銜接與補課安排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誠實通報是對全班師生最負責任的守護愛心行動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校內第一道防線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健康中心應變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孩子在校身體不適時，第一時間安置於健康中心觀察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校護進行體溫測量與專業初步護理評估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若體溫超標或症狀未緩解，導師立即電話通知家長接回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請家長保持手機暢通，確保突發狀況能即時連線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守護叮嚀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生病不硬撐，健康第一位！給孩子充足休養時間，滿血回歸學習更有勁。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請假規範指南：8:30 前通報管道與流程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守護差勤紀律・通報管道多元暢通・確保每位孩子行蹤平安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晨間 8:30 前完成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通報時效與管道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當日請假務必於上午 8:30 前主動完成通報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主要管道：透過 LINE 班級通訊直接留言通知導師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備用管道：致電學校總機 04-26567968（轉分機 720/724）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清楚說明請假事由（病假/事假）與預計返校日期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分層嚴格核定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審核權限階層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請假 1~2 天：由班級導師直接核准備查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請假 3~5 天：需送交學務處生輔組核定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請假 6 天以上：需呈報校長核可，並檢附證明文件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事假請提前告知，病假返校後 3 日內補齊假單手續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補考規定說明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定期評量請假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段考或期末考期間生病，務必出示公立或地區醫院證明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返校後由教務處統一安排補考事宜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依教育局成績評量辦法計算補考分數，確保公平性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遇突發重症請第一時間致電導師協調應試配套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差勤核心原則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清楚通報、掌握行蹤，讓學校與家庭緊密連線，不遺漏任何一個孩子的安全！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17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校園安全管理：外出嚴格審核與中輟通報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滴水不漏門禁管制・落實中輟通報機制・守護孩子在校平安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安全門禁把關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臨時外出嚴格管制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上課期間學童因病或突發急事需臨時離校：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家長必須親自至警衛室登記換證，由導師帶至校門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嚴禁學生私自擅自走出校門或自行搭車離開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若委託非同住親友代接，請務必先電話通知導師核對身份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即時關懷聯繫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未請假失聯追蹤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每日第一節上課（8:40）點名未到且未主動請假者：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導師將立即致電家長手機確認行蹤與平安狀況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若家長未接聽，續撥緊急聯絡人電話確保無虞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防範途中走失或突發意外，落實晨間安全第一道防線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依法行政把關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中輟通報法定機制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依教育部規定，學童未經請假連續無故缺課達 3 日以上：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學校依法即刻啟動中輟通報並呈報教育局與社會局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啟動輔導室、警政單位與社工系統聯合協尋關懷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親師密切配合落實差勤請假，共同維護學童受教權利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安全最高準則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孩子平安，是一切學習的根本。感謝各位家長全力配合學校門禁與差勤規範！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18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六年級專屬盛事：畢旅與畢業紀念冊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小學生活的黃金終章・定格純真笑顏・寫下最璀璨的童年篇章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974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09749"/>
            <a:ext cx="10159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小學里程碑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190749"/>
            <a:ext cx="4889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E88D67"/>
                </a:solidFill>
                <a:latin typeface="Microsoft JhengHei"/>
              </a:defRPr>
            </a:pPr>
            <a:r>
              <a:t>畢業旅行深度探索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698750"/>
            <a:ext cx="4889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規劃兩天一夜精彩豐富行程，拓展同窗視野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鍛鍊孩子獨立生活、團體合作與人際互助能力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嚴格招標評選優質合格遊覽車與合法旅宿設施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學務處及隨隊教師全程隨行，滴水不漏安全照護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499" y="1587499"/>
            <a:ext cx="53974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40499" y="1809749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典藏青春時光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499" y="2190749"/>
            <a:ext cx="4889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C5E8A"/>
                </a:solidFill>
                <a:latin typeface="Microsoft JhengHei"/>
              </a:defRPr>
            </a:pPr>
            <a:r>
              <a:t>畢業紀念冊編撰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698750"/>
            <a:ext cx="4889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精心策劃各班專屬個人生活照與團體歡樂花絮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收錄小學六年的拔節成長與溫暖師生話語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專業攝影團隊掌鏡，定格童年最美純真笑容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成為孩子長大後翻閱時，最珍貴的心靈養分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畢業願景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讓這最後一年的每一段回憶，都化作孩子未來展翅高飛時最深厚的底氣！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19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班級自治與推選：班親會長與總務幹部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搭建親師合作橋樑・凝聚班級向心力・熱忱服務六年一班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53974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1999" y="1809749"/>
            <a:ext cx="10159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親師溝通樞紐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1999" y="2190749"/>
            <a:ext cx="4889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E88D67"/>
                </a:solidFill>
                <a:latin typeface="Microsoft JhengHei"/>
              </a:defRPr>
            </a:pPr>
            <a:r>
              <a:t>班親會長職責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1999" y="2698750"/>
            <a:ext cx="4889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擔任六年一班家長代表，搭建親師良好溝通橋樑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代表班級出席全校家長代表大會，反映家長心聲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協助凝聚班級家長向心力，支援班級專案活動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熱情邀請具服務熱忱、關心班級的家長自告奮勇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86499" y="1587499"/>
            <a:ext cx="53974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540499" y="1809749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財務把關後盾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40499" y="2190749"/>
            <a:ext cx="48894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2C5E8A"/>
                </a:solidFill>
                <a:latin typeface="Microsoft JhengHei"/>
              </a:defRPr>
            </a:pPr>
            <a:r>
              <a:t>總務幹部職責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0499" y="2698750"/>
            <a:ext cx="4889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專款專用保管六年級專案專款（如畢旅等班費）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詳細登載每一筆收支帳目，確實留存單據發票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定期向家長公開財務報表，確保收支清楚明白</a:t>
            </a:r>
          </a:p>
          <a:p>
            <a:pPr>
              <a:spcBef>
                <a:spcPts val="1600"/>
              </a:spcBef>
              <a:defRPr sz="1700">
                <a:solidFill>
                  <a:srgbClr val="2D3748"/>
                </a:solidFill>
                <a:latin typeface="Microsoft JhengHei"/>
              </a:defRPr>
            </a:pPr>
            <a:r>
              <a:t>●  與導師、會長共同雙人覆核把關每一筆班級支出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幹部推選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一個好班級，背後一定有一群熱心付出的家長！期待您的自告奮勇與承擔！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20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班級財務透明：高老師的三大透明承諾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每一筆費用清清楚楚・經費使用公開透明・為家長嚴格把關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698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保證一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專款專用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畢旅、畢業專案等各項費用獨立設帳核算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嚴禁挪用或混雜其他非指定用途之支出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每一筆收費皆具備明確依據與專屬專案名目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款項收取後即刻由總務幹部保管入帳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698499" cy="2286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保證二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5E8A"/>
                </a:solidFill>
                <a:latin typeface="Microsoft JhengHei"/>
              </a:defRPr>
            </a:pPr>
            <a:r>
              <a:t>帳目公開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所有收支款項皆留存正式發票或合格收據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定期於班親會或班級通訊公開收支明細表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隨時接受全班家長查閱詢問，透明安心無疑慮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期末結算若有剩餘款項，依規定辦理退費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698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保證三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雙人覆核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班級總務幹部記帳核算，導師及會長共同審核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重大支出項目事先經由班級家長共識討論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杜絕單人經手或黑箱作業，嚴守誠信原則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建立制度化管理，讓班級運作平穩有依歸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導師承諾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財務透明是互信的基石；高老師堅持三大保證，每一筆費用清清楚楚！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21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誠摯致謝：114學年度本班家長委員會委員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感謝熱心承擔・搭建親校橋樑・為孩子爭取最豐沛的教育資源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4999" y="1587499"/>
            <a:ext cx="10921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24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本班堅實後盾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222500"/>
            <a:ext cx="10159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C5E8A"/>
                </a:solidFill>
                <a:latin typeface="Microsoft JhengHei"/>
              </a:defRPr>
            </a:pPr>
            <a:r>
              <a:t>向熱心承擔的家長委員會委員致上崇高敬意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794000"/>
            <a:ext cx="10159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6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公開致謝本班已確認產生的家長委員會委員代表，感謝熱心承擔與無私奉獻！</a:t>
            </a:r>
          </a:p>
          <a:p>
            <a:pPr>
              <a:spcBef>
                <a:spcPts val="16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搭起學校行政處室與班級家長之間的堅實溝通橋樑，第一時間傳達校務政策。</a:t>
            </a:r>
          </a:p>
          <a:p>
            <a:pPr>
              <a:spcBef>
                <a:spcPts val="16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代表六年一班家長出席學校各項重要決策會議，積極為全班孩子爭取優質資源。</a:t>
            </a:r>
          </a:p>
          <a:p>
            <a:pPr>
              <a:spcBef>
                <a:spcPts val="16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在各項大型校園活動、運動會與畢業專案中，給予六年一班最強大的支援與照護。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致謝心聲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因為有委員們的默默耕耘與熱情付出，六年一班的學習環境更加溫暖而豐盛！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22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熱忱招募：115學年度愛心志工隊（交通組／圖書組）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因為有您，孩子的安全更有保障；因為有您，孩子的笑容更加燦爛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學童路口安全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【交通組】導護守護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執勤內容：於學校周邊重要路口指揮交通，引導學童安全過馬路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時段一（晨間）：07:10 ～ 07:50（可單選固定星期執勤）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時段二（中午）：12:45 ～ 13:10（低年級放學導護）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時段三（下午）：15:45 ～ 16:10（全校放學交通疏導）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晨間書香守護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【圖書組】書香推廣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執勤內容：協助圖書借還登記、新書上架整理與閱讀活動推廣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排班時段：上午 08:30 ～ 11:30（每週一次或隔週輪值）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特別說明：待學校全新活動中心完工落成後，正式開始排班執勤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歡迎熱愛閱讀、喜歡陪伴孩子沉浸書香的爸爸媽媽加入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歡迎熱情加入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報名與登記方式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現場報名：親師會結束後，可直接向高老師登記意願與時段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紙本回條：填妥學校發放之「愛心志工意願調查回條」交由孩子帶來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彈性排班：可依家長工作空檔選擇固定每週某一天執勤，無負擔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提供全套志工反光背心、導護裝備及意外保險，安心有保障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學校志工隊招募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守護孩子的上學路，點亮孩子的閱讀心；鹿陽愛心志工隊誠摯歡迎您的加入！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23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親師即時連線：LINE 常態溝通與緊急專線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通暢透明的溝通管道・及時化解問題・親師攜手做神隊友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LINE 班級專區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日常常規溝通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平日作業、生活常規或請假事宜，請多利用 LINE 留言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上課時間老師專注教學與學生照護，手機維持靜音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課間空檔或放學後，老師會第一時間詳細審慎回覆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保持文字溝通的理性與溫度，維護良好親師互動氛圍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導師手機直撥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緊急突發專線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孩子在校發生突發急症、意外傷害或重大事故：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請家長無須猶豫，直接撥打高老師手機：0963-159-896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第一時間快速連線處理，暢通無阻共同解決急難問題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建議家長將老師電話加入手機通訊錄「六年一班高老師」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校級正式分機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學校處室總機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學校代表號總機：04-26567968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學務處差勤/請假專線：轉分機 720 或 724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教務處教學/閱讀專線：轉分機 710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健康中心校護專線：轉分機 725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親師連線承諾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坦誠溝通是化解疑慮的良方；有任何想法或疑問，隨時歡迎與高老師聯繫！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24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給家長的一封信：並肩走一段平穩堅定的路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高老師的深情告白・感謝家長六年來的悉心灌溉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34999" y="1587499"/>
            <a:ext cx="10921999" cy="3683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52499" y="1841500"/>
            <a:ext cx="10159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導師的一封信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499" y="2222500"/>
            <a:ext cx="10159999" cy="3809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C5E8A"/>
                </a:solidFill>
                <a:latin typeface="Microsoft JhengHei"/>
              </a:defRPr>
            </a:pPr>
            <a:r>
              <a:t>「我們不替孩子走完人生的路，但在他跌倒時，陪伴他勇敢站起來。」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499" y="2794000"/>
            <a:ext cx="10159999" cy="2222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親愛的家長：小學六年的最後一哩路，孩子正在經歷身心拔節成長的關鍵轉折點。</a:t>
            </a:r>
          </a:p>
          <a:p>
            <a:pPr>
              <a:spcBef>
                <a:spcPts val="14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他們開始有了獨立的主見，偶爾會有些小叛逆或小彆扭，這正是他們渴望長大的訊號。</a:t>
            </a:r>
          </a:p>
          <a:p>
            <a:pPr>
              <a:spcBef>
                <a:spcPts val="14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未來的日子裡，課業會更有挑戰，人際會更加複雜，但請爸爸媽媽放心，有我在。</a:t>
            </a:r>
          </a:p>
          <a:p>
            <a:pPr>
              <a:spcBef>
                <a:spcPts val="14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我會用最大的耐心接納他們的迷惘，用最溫柔的堅定引領他們找到方向。</a:t>
            </a:r>
          </a:p>
          <a:p>
            <a:pPr>
              <a:spcBef>
                <a:spcPts val="1400"/>
              </a:spcBef>
              <a:defRPr sz="1800">
                <a:solidFill>
                  <a:srgbClr val="2D3748"/>
                </a:solidFill>
                <a:latin typeface="Microsoft JhengHei"/>
              </a:defRPr>
            </a:pPr>
            <a:r>
              <a:t>●  感謝您六年來的悉心灌溉，未來這一年，讓我們並肩做神隊友，給孩子最安心的依傍！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深情結語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教育是一場向美而行的溫柔修行；六年一班有您同行，是孩子莫大的福氣！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25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感謝聆聽與交流時間（Q&amp;A）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親師交流時間・自由提問與意見分享・凝聚親師共識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952499" cy="2540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現場自由互動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E88D67"/>
                </a:solidFill>
                <a:latin typeface="Microsoft JhengHei"/>
              </a:defRPr>
            </a:pPr>
            <a:r>
              <a:t>提問與交流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針對今日簡報之班級經營理念提出討論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關於孩子升上六年級課業適應之疑難解答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對於 3C 使用、情緒調節或閱讀引導的看法交流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歡迎提出任何對班級經營有助益的寶貴建言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952499" cy="2540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班級自治落實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2C5E8A"/>
                </a:solidFill>
                <a:latin typeface="Microsoft JhengHei"/>
              </a:defRPr>
            </a:pPr>
            <a:r>
              <a:t>班親幹部推選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現場推選並確認 601 班親會長人選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現場推選並確認 601 班級總務幹部人選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組建六年一班家長自治團隊，攜手把關班務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感謝熱心家長挺身而出，為全班孩子付出奉獻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952499" cy="2540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建立聯絡網絡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59000"/>
            <a:ext cx="2984499" cy="3175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58A47E"/>
                </a:solidFill>
                <a:latin typeface="Microsoft JhengHei"/>
              </a:defRPr>
            </a:pPr>
            <a:r>
              <a:t>回饋與通訊確認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603499"/>
            <a:ext cx="2984499" cy="241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確認已加入六年一班官方 LINE 親師群組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核對家長緊急聯絡電話與基本通訊資料無誤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填寫今日親師座談會之線上或紙本回饋表單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親師密切攜手合作，共同開啟充實美好的小六旅程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祝福心聲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誠摯祝福各位家長闔家平安喜樂、全班孩子在六年一班健康自信、學習收穫滿滿！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DF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7999" y="285750"/>
            <a:ext cx="3047999" cy="266699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300" b="1">
                <a:solidFill>
                  <a:srgbClr val="FFFFFF"/>
                </a:solidFill>
                <a:latin typeface="Microsoft JhengHei"/>
              </a:defRPr>
            </a:pPr>
            <a:r>
              <a:t>臺中市沙鹿區鹿陽國民小學 六年一班 班親會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77499" y="285750"/>
            <a:ext cx="1206499" cy="2666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718096"/>
                </a:solidFill>
                <a:latin typeface="Microsoft JhengHei"/>
              </a:defRPr>
            </a:pPr>
            <a:r>
              <a:t>PAGE 26 /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7999" y="647699"/>
            <a:ext cx="11175999" cy="41274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2D3748"/>
                </a:solidFill>
                <a:latin typeface="Microsoft JhengHei"/>
              </a:defRPr>
            </a:pPr>
            <a:r>
              <a:t>現場重要提醒：今日親師會三大必辦事項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999" y="1092200"/>
            <a:ext cx="11175999" cy="241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718096"/>
                </a:solidFill>
                <a:latin typeface="Microsoft JhengHei"/>
              </a:defRPr>
            </a:pPr>
            <a:r>
              <a:t>感謝各位家長熱情參與・離席前請協助確認完成以下三項核心要事</a:t>
            </a:r>
          </a:p>
        </p:txBody>
      </p:sp>
      <p:sp>
        <p:nvSpPr>
          <p:cNvPr id="7" name="Rectangle 6"/>
          <p:cNvSpPr/>
          <p:nvPr/>
        </p:nvSpPr>
        <p:spPr>
          <a:xfrm>
            <a:off x="507999" y="1346200"/>
            <a:ext cx="1396999" cy="38100"/>
          </a:xfrm>
          <a:prstGeom prst="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79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C5E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0249" y="1778000"/>
            <a:ext cx="825499" cy="228600"/>
          </a:xfrm>
          <a:prstGeom prst="roundRect">
            <a:avLst/>
          </a:prstGeom>
          <a:solidFill>
            <a:srgbClr val="2C5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必辦要事 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024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C5E8A"/>
                </a:solidFill>
                <a:latin typeface="Microsoft JhengHei"/>
              </a:defRPr>
            </a:pPr>
            <a:r>
              <a:t>家長出席簽到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024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確認已於出席簽到表完成簽名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確實掌握班級出席家長名冊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領取學校各處室印製之書面通知單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確保親師雙向通訊管道通暢無阻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2274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88D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444999" y="1778000"/>
            <a:ext cx="825499" cy="228600"/>
          </a:xfrm>
          <a:prstGeom prst="roundRect">
            <a:avLst/>
          </a:prstGeom>
          <a:solidFill>
            <a:srgbClr val="E88D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必辦要事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499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88D67"/>
                </a:solidFill>
                <a:latin typeface="Microsoft JhengHei"/>
              </a:defRPr>
            </a:pPr>
            <a:r>
              <a:t>會長及總務推選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499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推選確認 601「班親會長」熱心代表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推選確認班級「總務幹部」人選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共同把關畢業專案與各項經費核銷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親師攜手做孩子最堅實的後援力量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37499" y="1587499"/>
            <a:ext cx="3428999" cy="3683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8A4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59749" y="1778000"/>
            <a:ext cx="825499" cy="228600"/>
          </a:xfrm>
          <a:prstGeom prst="roundRect">
            <a:avLst/>
          </a:prstGeom>
          <a:solidFill>
            <a:srgbClr val="58A4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必辦要事 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9749" y="2127250"/>
            <a:ext cx="2984499" cy="2857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58A47E"/>
                </a:solidFill>
                <a:latin typeface="Microsoft JhengHei"/>
              </a:defRPr>
            </a:pPr>
            <a:r>
              <a:t>愛心志工意願登記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9749" y="2508250"/>
            <a:ext cx="2984499" cy="24764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交通組：上放學路口導護安全執勤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圖書組：晨間書籍借還整理與推廣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現場直接向高老師登記報名時段</a:t>
            </a:r>
          </a:p>
          <a:p>
            <a:pPr>
              <a:spcBef>
                <a:spcPts val="1400"/>
              </a:spcBef>
              <a:defRPr sz="1600">
                <a:solidFill>
                  <a:srgbClr val="2D3748"/>
                </a:solidFill>
                <a:latin typeface="Microsoft JhengHei"/>
              </a:defRPr>
            </a:pPr>
            <a:r>
              <a:t>●  或填妥紙本回條由孩子明日帶來學校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7999" y="5492749"/>
            <a:ext cx="11175999" cy="6985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8E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1999" y="5683250"/>
            <a:ext cx="1206499" cy="317500"/>
          </a:xfrm>
          <a:prstGeom prst="roundRect">
            <a:avLst/>
          </a:prstGeom>
          <a:solidFill>
            <a:srgbClr val="D98E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導師感謝與叮嚀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27249" y="5664199"/>
            <a:ext cx="9397999" cy="34925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600" b="1">
                <a:solidFill>
                  <a:srgbClr val="2C5E8A"/>
                </a:solidFill>
                <a:latin typeface="Microsoft JhengHei"/>
              </a:defRPr>
            </a:pPr>
            <a:r>
              <a:t>「再次誠摯感謝各位爸爸媽媽的蒞臨與支持！六年一班有您真好，夜深天涼，返家請注意安全！」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