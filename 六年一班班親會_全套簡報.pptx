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1399" y="1511300"/>
            <a:ext cx="314909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115 學年度 第一學期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999" y="1924049"/>
            <a:ext cx="37749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400" b="1">
                <a:solidFill>
                  <a:srgbClr val="2C5E8A"/>
                </a:solidFill>
                <a:latin typeface="Microsoft JhengHei"/>
                <a:ea typeface="Microsoft JhengHei"/>
              </a:rPr>
              <a:t>航向未來的起點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999" y="2559050"/>
            <a:ext cx="3319779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2D3748"/>
                </a:solidFill>
                <a:latin typeface="Microsoft JhengHei"/>
                <a:ea typeface="Microsoft JhengHei"/>
              </a:rPr>
              <a:t>鹿陽國民小學 六年一班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4749" y="3225800"/>
            <a:ext cx="31775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D3748"/>
                </a:solidFill>
                <a:latin typeface="Microsoft JhengHei"/>
                <a:ea typeface="Microsoft JhengHei"/>
              </a:rPr>
              <a:t>先相信孩子，再慢慢理解與引導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4749" y="3644899"/>
            <a:ext cx="360425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D3748"/>
                </a:solidFill>
                <a:latin typeface="Microsoft JhengHei"/>
                <a:ea typeface="Microsoft JhengHei"/>
              </a:rPr>
              <a:t>自主學習與愛閱家庭，深耕閱讀日常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4749" y="4064000"/>
            <a:ext cx="445769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D3748"/>
                </a:solidFill>
                <a:latin typeface="Microsoft JhengHei"/>
                <a:ea typeface="Microsoft JhengHei"/>
              </a:rPr>
              <a:t>科技是翅膀而非猛獸，善用 3C 賦能成長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4749" y="4483100"/>
            <a:ext cx="360425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D3748"/>
                </a:solidFill>
                <a:latin typeface="Microsoft JhengHei"/>
                <a:ea typeface="Microsoft JhengHei"/>
              </a:rPr>
              <a:t>攜手同行，做孩子最溫暖堅實的後盾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199" y="5029200"/>
            <a:ext cx="2238755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</a:rPr>
              <a:t>導師：高志賢 老師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7349" y="1549400"/>
            <a:ext cx="112928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班親專屬網站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5749" y="1828800"/>
            <a:ext cx="2011171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C5E8A"/>
                </a:solidFill>
                <a:latin typeface="Microsoft JhengHei"/>
                <a:ea typeface="Microsoft JhengHei"/>
              </a:rPr>
              <a:t>掃描開啟班親手冊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5749" y="2114550"/>
            <a:ext cx="203961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718096"/>
                </a:solidFill>
                <a:latin typeface="Microsoft JhengHei"/>
                <a:ea typeface="Microsoft JhengHei"/>
              </a:rPr>
              <a:t>現場免抄筆記・線上同步瀏覽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7499" y="3987799"/>
            <a:ext cx="284734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718096"/>
                </a:solidFill>
                <a:latin typeface="Microsoft JhengHei"/>
                <a:ea typeface="Microsoft JhengHei"/>
              </a:rPr>
              <a:t>網址：clive520.github.io/parent-meeting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599" y="4216400"/>
            <a:ext cx="1726691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C5E8A"/>
                </a:solidFill>
                <a:latin typeface="Microsoft JhengHei"/>
                <a:ea typeface="Microsoft JhengHei"/>
              </a:rPr>
              <a:t>免排隊零等待・全彩隨身看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02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4998211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走進青春期：孩子的拔節成長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4628387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看見孩子升上小六的轉變・從依賴走向獨立的微妙時刻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749" y="1803400"/>
            <a:ext cx="1812035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50" b="1">
                <a:solidFill>
                  <a:srgbClr val="2C5E8A"/>
                </a:solidFill>
                <a:latin typeface="Microsoft JhengHei"/>
                <a:ea typeface="Microsoft JhengHei"/>
              </a:rPr>
              <a:t>班級步入常軌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99" y="2222500"/>
            <a:ext cx="42443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開學至今，全班展現極佳的常規與凝聚力。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99" y="2527300"/>
            <a:ext cx="40309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學習態度認真專注，生活作息穩定踏實。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749" y="3327400"/>
            <a:ext cx="1812035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50" b="1">
                <a:solidFill>
                  <a:srgbClr val="2C5E8A"/>
                </a:solidFill>
                <a:latin typeface="Microsoft JhengHei"/>
                <a:ea typeface="Microsoft JhengHei"/>
              </a:rPr>
              <a:t>自主意識萌芽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3746500"/>
            <a:ext cx="42443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孩子開始有獨立主見，思考更加深入廣闊。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4051300"/>
            <a:ext cx="40309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渴望用自己的方式探索世界與解決問題。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749" y="4851400"/>
            <a:ext cx="2352547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50" b="1">
                <a:solidFill>
                  <a:srgbClr val="2C5E8A"/>
                </a:solidFill>
                <a:latin typeface="Microsoft JhengHei"/>
                <a:ea typeface="Microsoft JhengHei"/>
              </a:rPr>
              <a:t>渴望被尊重與理解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99" y="5270500"/>
            <a:ext cx="42443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這不是叛逆，而是孩子正在練習長大成熟。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99" y="5575300"/>
            <a:ext cx="42443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需要親師用溫暖包容、平等視角接納引導。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tea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03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6107683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高老師的陪伴哲學：先相信，再理解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5552947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做孩子最堅實的後盾——絕不有罪推定・深究行為背後的心理密碼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749" y="1803400"/>
            <a:ext cx="3163315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50" b="1">
                <a:solidFill>
                  <a:srgbClr val="E88D67"/>
                </a:solidFill>
                <a:latin typeface="Microsoft JhengHei"/>
                <a:ea typeface="Microsoft JhengHei"/>
              </a:rPr>
              <a:t>信任第一，絕不有罪推定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99" y="2222500"/>
            <a:ext cx="42443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在我的教室裡，衝突發生時絕不急於定罪。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99" y="2527300"/>
            <a:ext cx="467105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先接納孩子的情緒，給予全然的信任與安全感。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749" y="3327400"/>
            <a:ext cx="3163315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50" b="1">
                <a:solidFill>
                  <a:srgbClr val="E88D67"/>
                </a:solidFill>
                <a:latin typeface="Microsoft JhengHei"/>
                <a:ea typeface="Microsoft JhengHei"/>
              </a:rPr>
              <a:t>穿透表象，探究心理原因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3746500"/>
            <a:ext cx="42443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孩子的脫序行為往往只是情緒的冰山一角。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4051300"/>
            <a:ext cx="445769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深入探討背後的焦慮、挫折，以及心理需求。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749" y="4851400"/>
            <a:ext cx="3163315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50" b="1">
                <a:solidFill>
                  <a:srgbClr val="E88D67"/>
                </a:solidFill>
                <a:latin typeface="Microsoft JhengHei"/>
                <a:ea typeface="Microsoft JhengHei"/>
              </a:rPr>
              <a:t>溫和堅定，陪伴負責修正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99" y="5270500"/>
            <a:ext cx="42443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給孩子犯錯與調整的空間，營造反思氛圍。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99" y="5575300"/>
            <a:ext cx="445769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引導看見行為後果，陪伴孩子學會勇於負責。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04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6847331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心靈的韌性：高年級 SEL 核心金句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610768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【輔導室推動】培養孩子在面對挫折與壓力時，依然能站起來的內在力量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1899" y="1987550"/>
            <a:ext cx="1854707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心靈成長金句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499" y="2400300"/>
            <a:ext cx="4258563" cy="4190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300" b="1">
                <a:solidFill>
                  <a:srgbClr val="2C5E8A"/>
                </a:solidFill>
                <a:latin typeface="Microsoft JhengHei"/>
                <a:ea typeface="Microsoft JhengHei"/>
              </a:rPr>
              <a:t>「孩子需要的，不只是成功，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499" y="2844799"/>
            <a:ext cx="4884419" cy="4190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300" b="1">
                <a:solidFill>
                  <a:srgbClr val="E88D67"/>
                </a:solidFill>
                <a:latin typeface="Microsoft JhengHei"/>
                <a:ea typeface="Microsoft JhengHei"/>
              </a:rPr>
              <a:t>   而是面對不成功的能力。」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1899" y="4146550"/>
            <a:ext cx="1854707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心靈成長金句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499" y="4559300"/>
            <a:ext cx="3006851" cy="4190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300" b="1">
                <a:solidFill>
                  <a:srgbClr val="E88D67"/>
                </a:solidFill>
                <a:latin typeface="Microsoft JhengHei"/>
                <a:ea typeface="Microsoft JhengHei"/>
              </a:rPr>
              <a:t>「求助不是我很弱，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499" y="5003800"/>
            <a:ext cx="7387843" cy="4190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300" b="1">
                <a:solidFill>
                  <a:srgbClr val="2C5E8A"/>
                </a:solidFill>
                <a:latin typeface="Microsoft JhengHei"/>
                <a:ea typeface="Microsoft JhengHei"/>
              </a:rPr>
              <a:t>   而是我知道什麼時候需要藉助別人的力量。」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el-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05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6477507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心靈的韌性：SEL 情緒調節與應對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8141715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【輔導室推動】認識自己 → 管理情緒 → 理解他人 → 建立關係 → 做出負責任的選擇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99" y="1943100"/>
            <a:ext cx="1186179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步驟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99" y="2368550"/>
            <a:ext cx="3177539" cy="4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50" b="1">
                <a:solidFill>
                  <a:srgbClr val="2C5E8A"/>
                </a:solidFill>
                <a:latin typeface="Microsoft JhengHei"/>
                <a:ea typeface="Microsoft JhengHei"/>
              </a:rPr>
              <a:t>1. 看見與說出情緒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999" y="3067050"/>
            <a:ext cx="2871723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75" b="0">
                <a:solidFill>
                  <a:srgbClr val="2D3748"/>
                </a:solidFill>
                <a:latin typeface="Microsoft JhengHei"/>
                <a:ea typeface="Microsoft JhengHei"/>
              </a:rPr>
              <a:t>覺察身體緊繃訊號，接納感受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999" y="3733799"/>
            <a:ext cx="2871723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75" b="0">
                <a:solidFill>
                  <a:srgbClr val="2D3748"/>
                </a:solidFill>
                <a:latin typeface="Microsoft JhengHei"/>
                <a:ea typeface="Microsoft JhengHei"/>
              </a:rPr>
              <a:t>引導孩子把模糊的壓力說出來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999" y="4400550"/>
            <a:ext cx="3077971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75" b="0">
                <a:solidFill>
                  <a:srgbClr val="2D3748"/>
                </a:solidFill>
                <a:latin typeface="Microsoft JhengHei"/>
                <a:ea typeface="Microsoft JhengHei"/>
              </a:rPr>
              <a:t>「能說出來，就是整理的開始」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149" y="1943100"/>
            <a:ext cx="1186179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步驟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6749" y="2368550"/>
            <a:ext cx="3177539" cy="4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50" b="1">
                <a:solidFill>
                  <a:srgbClr val="E88D67"/>
                </a:solidFill>
                <a:latin typeface="Microsoft JhengHei"/>
                <a:ea typeface="Microsoft JhengHei"/>
              </a:rPr>
              <a:t>2. 暫停一下先穩住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3749" y="3067050"/>
            <a:ext cx="3077971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75" b="0">
                <a:solidFill>
                  <a:srgbClr val="2D3748"/>
                </a:solidFill>
                <a:latin typeface="Microsoft JhengHei"/>
                <a:ea typeface="Microsoft JhengHei"/>
              </a:rPr>
              <a:t>情緒高漲時先深呼吸、喝杯溫水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3749" y="3733799"/>
            <a:ext cx="3077971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75" b="0">
                <a:solidFill>
                  <a:srgbClr val="2D3748"/>
                </a:solidFill>
                <a:latin typeface="Microsoft JhengHei"/>
                <a:ea typeface="Microsoft JhengHei"/>
              </a:rPr>
              <a:t>暫離現場，讓理智大腦重回冷靜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3749" y="4400550"/>
            <a:ext cx="3284219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75" b="0">
                <a:solidFill>
                  <a:srgbClr val="2D3748"/>
                </a:solidFill>
                <a:latin typeface="Microsoft JhengHei"/>
                <a:ea typeface="Microsoft JhengHei"/>
              </a:rPr>
              <a:t>落實「停一下、想一想、再決定」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899" y="1943100"/>
            <a:ext cx="1186179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步驟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499" y="2368550"/>
            <a:ext cx="3177539" cy="4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50" b="1">
                <a:solidFill>
                  <a:srgbClr val="58A47E"/>
                </a:solidFill>
                <a:latin typeface="Microsoft JhengHei"/>
                <a:ea typeface="Microsoft JhengHei"/>
              </a:rPr>
              <a:t>3. 拆解難題找支持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499" y="3067050"/>
            <a:ext cx="2871723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75" b="0">
                <a:solidFill>
                  <a:srgbClr val="2D3748"/>
                </a:solidFill>
                <a:latin typeface="Microsoft JhengHei"/>
                <a:ea typeface="Microsoft JhengHei"/>
              </a:rPr>
              <a:t>把巨大的壓力拆解成下一小步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499" y="3733799"/>
            <a:ext cx="3077971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75" b="0">
                <a:solidFill>
                  <a:srgbClr val="2D3748"/>
                </a:solidFill>
                <a:latin typeface="Microsoft JhengHei"/>
                <a:ea typeface="Microsoft JhengHei"/>
              </a:rPr>
              <a:t>不用一個人硬撐，主動尋求支持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499" y="4400550"/>
            <a:ext cx="3077971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75" b="0">
                <a:solidFill>
                  <a:srgbClr val="2D3748"/>
                </a:solidFill>
                <a:latin typeface="Microsoft JhengHei"/>
                <a:ea typeface="Microsoft JhengHei"/>
              </a:rPr>
              <a:t>在陪伴中重新找回自信與安全感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06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6107683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從被動到自律：高年級自主學習關鍵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499821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高年級不再依賴大人盯梢・培養孩子終身受益的自律自學力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099" y="1943100"/>
            <a:ext cx="18973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</a:rPr>
              <a:t>時間管理自主規劃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6249" y="1917700"/>
            <a:ext cx="647750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0">
                <a:solidFill>
                  <a:srgbClr val="2D3748"/>
                </a:solidFill>
                <a:latin typeface="Microsoft JhengHei"/>
                <a:ea typeface="Microsoft JhengHei"/>
              </a:rPr>
              <a:t>引導自主規劃每日課後作息與進度，建立守時自律好習慣。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099" y="2990849"/>
            <a:ext cx="18973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</a:rPr>
              <a:t>深耕自主閱讀習慣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6249" y="2965450"/>
            <a:ext cx="6719315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0">
                <a:solidFill>
                  <a:srgbClr val="2D3748"/>
                </a:solidFill>
                <a:latin typeface="Microsoft JhengHei"/>
                <a:ea typeface="Microsoft JhengHei"/>
              </a:rPr>
              <a:t>由圖文書進階至長篇與思辨讀物，透過深度閱讀奠定思維力。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099" y="4038599"/>
            <a:ext cx="18973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</a:rPr>
              <a:t>勇於主動提問探究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6249" y="4013199"/>
            <a:ext cx="6719315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0">
                <a:solidFill>
                  <a:srgbClr val="2D3748"/>
                </a:solidFill>
                <a:latin typeface="Microsoft JhengHei"/>
                <a:ea typeface="Microsoft JhengHei"/>
              </a:rPr>
              <a:t>鼓勵多問「為什麼」，讓學習從被動應付轉為主動探索未知。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099" y="5086350"/>
            <a:ext cx="18973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</a:rPr>
              <a:t>建立自律與成就感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6249" y="5060950"/>
            <a:ext cx="6719315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0">
                <a:solidFill>
                  <a:srgbClr val="2D3748"/>
                </a:solidFill>
                <a:latin typeface="Microsoft JhengHei"/>
                <a:ea typeface="Microsoft JhengHei"/>
              </a:rPr>
              <a:t>看見自己每天微小的進步與堅持，在克服挑戰中累積自信心。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reading-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07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7586979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【教務處宣導】臺中市「愛閱家庭」實施計畫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518312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推動親子共讀・累積智慧存款・全面升級為雲端智慧存摺登錄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899" y="1987550"/>
            <a:ext cx="1385315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計畫三大理念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99" y="2368550"/>
            <a:ext cx="3462019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58A47E"/>
                </a:solidFill>
                <a:latin typeface="Microsoft JhengHei"/>
                <a:ea typeface="Microsoft JhengHei"/>
              </a:rPr>
              <a:t>「愛閱家庭」核心精神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799" y="2940050"/>
            <a:ext cx="2608579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C5E8A"/>
                </a:solidFill>
                <a:latin typeface="Microsoft JhengHei"/>
                <a:ea typeface="Microsoft JhengHei"/>
              </a:rPr>
              <a:t>i 閱（自我實踐）：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799" y="3232149"/>
            <a:ext cx="40309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閱讀是自己的事，大人與孩子身體力行。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799" y="3587749"/>
            <a:ext cx="2366771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C5E8A"/>
                </a:solidFill>
                <a:latin typeface="Microsoft JhengHei"/>
                <a:ea typeface="Microsoft JhengHei"/>
              </a:rPr>
              <a:t>愛閱（熱愛閱讀）：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799" y="3879850"/>
            <a:ext cx="38176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把閱讀當成生活享受，而非沉重負擔。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4235449"/>
            <a:ext cx="2366771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C5E8A"/>
                </a:solidFill>
                <a:latin typeface="Microsoft JhengHei"/>
                <a:ea typeface="Microsoft JhengHei"/>
              </a:rPr>
              <a:t>愛閱（家庭之愛）：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4527550"/>
            <a:ext cx="40309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透過共讀增進情感，凝聚家庭溫暖時光。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4883150"/>
            <a:ext cx="285038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C5E8A"/>
                </a:solidFill>
                <a:latin typeface="Microsoft JhengHei"/>
                <a:ea typeface="Microsoft JhengHei"/>
              </a:rPr>
              <a:t>每日共讀 20 分鐘：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5175250"/>
            <a:ext cx="445769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每天只要 20 分鐘，共創書香溫馨家庭。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5399" y="1987550"/>
            <a:ext cx="1385315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重要行政日程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2999" y="2368550"/>
            <a:ext cx="3134867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2C5E8A"/>
                </a:solidFill>
                <a:latin typeface="Microsoft JhengHei"/>
                <a:ea typeface="Microsoft JhengHei"/>
              </a:rPr>
              <a:t>雲端登錄與集點流程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299" y="2940050"/>
            <a:ext cx="1883155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E88D67"/>
                </a:solidFill>
                <a:latin typeface="Microsoft JhengHei"/>
                <a:ea typeface="Microsoft JhengHei"/>
              </a:rPr>
              <a:t>登錄網站平台：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299" y="3232149"/>
            <a:ext cx="38176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臺中市愛閱家庭（雲端智慧存摺系統）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299" y="3587749"/>
            <a:ext cx="2124963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E88D67"/>
                </a:solidFill>
                <a:latin typeface="Microsoft JhengHei"/>
                <a:ea typeface="Microsoft JhengHei"/>
              </a:rPr>
              <a:t>家長線上申請期：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299" y="3879850"/>
            <a:ext cx="55905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115.09.16 ～ 115.10.25（自行註冊）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299" y="4235449"/>
            <a:ext cx="2124963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E88D67"/>
                </a:solidFill>
                <a:latin typeface="Microsoft JhengHei"/>
                <a:ea typeface="Microsoft JhengHei"/>
              </a:rPr>
              <a:t>正式登錄起算日：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299" y="4527550"/>
            <a:ext cx="559054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115.11.01 起，每月共讀滿 20 天即達標！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299" y="4883150"/>
            <a:ext cx="2124963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E88D67"/>
                </a:solidFill>
                <a:latin typeface="Microsoft JhengHei"/>
                <a:ea typeface="Microsoft JhengHei"/>
              </a:rPr>
              <a:t>閱讀達人榮譽獎：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299" y="5175250"/>
            <a:ext cx="40309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連續達成任務，頒發教育局獎狀與證書！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taichung-digital-re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08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1154684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【數位閱讀資源】市府數位閱讀寶庫：國語日報 ＆ Hami 書城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6662419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臺中市政府全額授權・國中小師生專屬福利・免排隊零等待・豐富多元閱讀視野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99" y="1797050"/>
            <a:ext cx="18973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臺中市教育局全額授權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99" y="2114550"/>
            <a:ext cx="2878835" cy="4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50" b="1">
                <a:solidFill>
                  <a:srgbClr val="E88D67"/>
                </a:solidFill>
                <a:latin typeface="Microsoft JhengHei"/>
                <a:ea typeface="Microsoft JhengHei"/>
              </a:rPr>
              <a:t>國語日報數位精選版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4899" y="2159000"/>
            <a:ext cx="232409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8D67"/>
                </a:solidFill>
                <a:latin typeface="Microsoft JhengHei"/>
                <a:ea typeface="Microsoft JhengHei"/>
              </a:rPr>
              <a:t>加分吧平臺・OpenID 登入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99" y="2686050"/>
            <a:ext cx="27508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C5E8A"/>
                </a:solidFill>
                <a:latin typeface="Microsoft JhengHei"/>
                <a:ea typeface="Microsoft JhengHei"/>
              </a:rPr>
              <a:t>全文注音與 AI 朗讀：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99" y="2952750"/>
            <a:ext cx="4991099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75" b="0">
                <a:solidFill>
                  <a:srgbClr val="2D3748"/>
                </a:solidFill>
                <a:latin typeface="Microsoft JhengHei"/>
                <a:ea typeface="Microsoft JhengHei"/>
              </a:rPr>
              <a:t>專為小學設計，支援真人與語音導讀，識字與理解雙軌並進。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99" y="3308350"/>
            <a:ext cx="253745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C5E8A"/>
                </a:solidFill>
                <a:latin typeface="Microsoft JhengHei"/>
                <a:ea typeface="Microsoft JhengHei"/>
              </a:rPr>
              <a:t>108 課綱跨域議題：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99" y="3575049"/>
            <a:ext cx="4635499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75" b="0">
                <a:solidFill>
                  <a:srgbClr val="2D3748"/>
                </a:solidFill>
                <a:latin typeface="Microsoft JhengHei"/>
                <a:ea typeface="Microsoft JhengHei"/>
              </a:rPr>
              <a:t>每日更新國內外時事、科普新知、文學小品與兒少專題。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99" y="3930649"/>
            <a:ext cx="21107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C5E8A"/>
                </a:solidFill>
                <a:latin typeface="Microsoft JhengHei"/>
                <a:ea typeface="Microsoft JhengHei"/>
              </a:rPr>
              <a:t>線上素養閱讀挑戰：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99" y="4197350"/>
            <a:ext cx="4813299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75" b="0">
                <a:solidFill>
                  <a:srgbClr val="2D3748"/>
                </a:solidFill>
                <a:latin typeface="Microsoft JhengHei"/>
                <a:ea typeface="Microsoft JhengHei"/>
              </a:rPr>
              <a:t>附帶理解評量與思考提問單，及時檢核孩子閱讀吸收成效。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499" y="4552949"/>
            <a:ext cx="16840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C5E8A"/>
                </a:solidFill>
                <a:latin typeface="Microsoft JhengHei"/>
                <a:ea typeface="Microsoft JhengHei"/>
              </a:rPr>
              <a:t>登入使用方式：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499" y="4819650"/>
            <a:ext cx="6057899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75" b="0">
                <a:solidFill>
                  <a:srgbClr val="2D3748"/>
                </a:solidFill>
                <a:latin typeface="Microsoft JhengHei"/>
                <a:ea typeface="Microsoft JhengHei"/>
              </a:rPr>
              <a:t>瀏覽器登入「加分吧」平臺，選「教育雲端帳號(OpenID)」即用。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399" y="1797050"/>
            <a:ext cx="18973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全市師生萬人同時在線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999" y="2114550"/>
            <a:ext cx="4073651" cy="4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50" b="1">
                <a:solidFill>
                  <a:srgbClr val="2C5E8A"/>
                </a:solidFill>
                <a:latin typeface="Microsoft JhengHei"/>
                <a:ea typeface="Microsoft JhengHei"/>
              </a:rPr>
              <a:t>Hami 書城數位閱讀平台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0899" y="2159000"/>
            <a:ext cx="175513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2C5E8A"/>
                </a:solidFill>
                <a:latin typeface="Microsoft JhengHei"/>
                <a:ea typeface="Microsoft JhengHei"/>
              </a:rPr>
              <a:t>免排隊・免預約・零等待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499" y="2686050"/>
            <a:ext cx="29641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E88D67"/>
                </a:solidFill>
                <a:latin typeface="Microsoft JhengHei"/>
                <a:ea typeface="Microsoft JhengHei"/>
              </a:rPr>
              <a:t>180+ 種熱門期刊童書：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499" y="2952750"/>
            <a:ext cx="5168899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75" b="0">
                <a:solidFill>
                  <a:srgbClr val="2D3748"/>
                </a:solidFill>
                <a:latin typeface="Microsoft JhengHei"/>
                <a:ea typeface="Microsoft JhengHei"/>
              </a:rPr>
              <a:t>各類少兒科學雜誌、歷史傳記、世界地理與豐富繪本應有盡有。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499" y="3308350"/>
            <a:ext cx="232409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E88D67"/>
                </a:solidFill>
                <a:latin typeface="Microsoft JhengHei"/>
                <a:ea typeface="Microsoft JhengHei"/>
              </a:rPr>
              <a:t>零等待萬人同時在線：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499" y="3575049"/>
            <a:ext cx="4991099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75" b="0">
                <a:solidFill>
                  <a:srgbClr val="2D3748"/>
                </a:solidFill>
                <a:latin typeface="Microsoft JhengHei"/>
                <a:ea typeface="Microsoft JhengHei"/>
              </a:rPr>
              <a:t>全班可同時間閱讀同一本電子書，班級共讀與教學無縫接軌。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499" y="3930649"/>
            <a:ext cx="232409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E88D67"/>
                </a:solidFill>
                <a:latin typeface="Microsoft JhengHei"/>
                <a:ea typeface="Microsoft JhengHei"/>
              </a:rPr>
              <a:t>跨載具支援離線閱讀：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499" y="4197350"/>
            <a:ext cx="4991099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75" b="0">
                <a:solidFill>
                  <a:srgbClr val="2D3748"/>
                </a:solidFill>
                <a:latin typeface="Microsoft JhengHei"/>
                <a:ea typeface="Microsoft JhengHei"/>
              </a:rPr>
              <a:t>手機、平板、電腦皆可登入閱讀，支援離線下載外出隨時看。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499" y="4552949"/>
            <a:ext cx="16840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E88D67"/>
                </a:solidFill>
                <a:latin typeface="Microsoft JhengHei"/>
                <a:ea typeface="Microsoft JhengHei"/>
              </a:rPr>
              <a:t>登入使用方式：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499" y="4819650"/>
            <a:ext cx="538734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75" b="0">
                <a:solidFill>
                  <a:srgbClr val="2D3748"/>
                </a:solidFill>
                <a:latin typeface="Microsoft JhengHei"/>
                <a:ea typeface="Microsoft JhengHei"/>
              </a:rPr>
              <a:t>點選教育局專屬入口選「OpenID 登入」或臺中圖書館借閱證號。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9" y="5734050"/>
            <a:ext cx="148488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高老師導引心法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1249" y="5721349"/>
            <a:ext cx="80848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C5E8A"/>
                </a:solidFill>
                <a:latin typeface="Microsoft JhengHei"/>
                <a:ea typeface="Microsoft JhengHei"/>
              </a:rPr>
              <a:t>平板不只是遊戲機，善用市府公有數位閱讀資源，就是孩子隨身攜帶的整座圖書館！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reading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09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9066275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【親師生共讀共融】親子共訂學期閱讀計畫與專屬書單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6477507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告別被動交代・依照孩子興趣探討書單・從量變到質變・培養終身自主閱讀力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649" y="1828800"/>
            <a:ext cx="104393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對話與傾聽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49" y="2178050"/>
            <a:ext cx="2893059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50" b="1">
                <a:solidFill>
                  <a:srgbClr val="E88D67"/>
                </a:solidFill>
                <a:latin typeface="Microsoft JhengHei"/>
                <a:ea typeface="Microsoft JhengHei"/>
              </a:rPr>
              <a:t>步驟一：探討專屬書單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749" y="2813050"/>
            <a:ext cx="2978403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與孩子坐下來聊聊感興趣的領域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749" y="3371850"/>
            <a:ext cx="3376675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兼顧「休閒純讀物」與「長篇挑戰」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749" y="3930649"/>
            <a:ext cx="2978403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尊重孩子選書權，激發內在熱情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749" y="4489450"/>
            <a:ext cx="3177539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納入國語日報與《冒險齒輪》長文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399" y="1828800"/>
            <a:ext cx="121462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可執行的節奏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999" y="2178050"/>
            <a:ext cx="2893059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50" b="1">
                <a:solidFill>
                  <a:srgbClr val="2C5E8A"/>
                </a:solidFill>
                <a:latin typeface="Microsoft JhengHei"/>
                <a:ea typeface="Microsoft JhengHei"/>
              </a:rPr>
              <a:t>步驟二：訂定閱讀目標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5499" y="2971800"/>
            <a:ext cx="3575811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每日固定 20 分鐘無干擾閱讀時間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499" y="3606800"/>
            <a:ext cx="3575811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設定每週或每月閱讀本數（量力而為）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499" y="4241800"/>
            <a:ext cx="2978403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結合愛閱家庭雲端存摺記錄成長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2149" y="1828800"/>
            <a:ext cx="121462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深化高階思維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9749" y="2178050"/>
            <a:ext cx="2893059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50" b="1">
                <a:solidFill>
                  <a:srgbClr val="58A47E"/>
                </a:solidFill>
                <a:latin typeface="Microsoft JhengHei"/>
                <a:ea typeface="Microsoft JhengHei"/>
              </a:rPr>
              <a:t>步驟三：共讀提問分享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0249" y="2813050"/>
            <a:ext cx="3575811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不考「書裡說什麼」，問「你怎麼看」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0249" y="3371850"/>
            <a:ext cx="3575811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「如果是你，會做出什麼不同選擇？」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0249" y="3930649"/>
            <a:ext cx="3177539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鼓勵孩子口頭分享或記錄精彩金句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0249" y="4489450"/>
            <a:ext cx="3376675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讓孩子感受閱讀觀點被重視的成就感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" y="5734050"/>
            <a:ext cx="129997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導師陪伴心法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6149" y="5721349"/>
            <a:ext cx="85115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C5E8A"/>
                </a:solidFill>
                <a:latin typeface="Microsoft JhengHei"/>
                <a:ea typeface="Microsoft JhengHei"/>
              </a:rPr>
              <a:t>「最好的閱讀計畫不是完美清單，而是每晚親子並肩翻開書頁、促膝長談的溫暖時光。」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reading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10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7956803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【自主閱讀深耕】AI 雲端閱讀理解認證平台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8511539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高老師運用 Google AI Studio 親自研發・以理解代替死記・啟發深層思考與表達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649" y="1904999"/>
            <a:ext cx="148488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緊扣主題與時事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49" y="2286000"/>
            <a:ext cx="1982723" cy="4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50" b="1">
                <a:solidFill>
                  <a:srgbClr val="E88D67"/>
                </a:solidFill>
                <a:latin typeface="Microsoft JhengHei"/>
                <a:ea typeface="Microsoft JhengHei"/>
              </a:rPr>
              <a:t>導師精選文本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99" y="2971800"/>
            <a:ext cx="253745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配合單元進度與生活時事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99" y="3530599"/>
            <a:ext cx="253745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涵蓋人文科普與情緒素養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99" y="4089400"/>
            <a:ext cx="253745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文章長度適中富思考深度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99" y="4648200"/>
            <a:ext cx="253745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扎根六年級跨領域自主力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399" y="1904999"/>
            <a:ext cx="148488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用自己的話回答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999" y="2286000"/>
            <a:ext cx="1982723" cy="4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50" b="1">
                <a:solidFill>
                  <a:srgbClr val="2C5E8A"/>
                </a:solidFill>
                <a:latin typeface="Microsoft JhengHei"/>
                <a:ea typeface="Microsoft JhengHei"/>
              </a:rPr>
              <a:t>理解代替死記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49" y="2971800"/>
            <a:ext cx="253745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告別選擇題與關鍵字抄寫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7249" y="3530599"/>
            <a:ext cx="253745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針對核心主旨與推論做答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7249" y="4089400"/>
            <a:ext cx="27508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鼓勵打字抒發個人真實想法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7249" y="4648200"/>
            <a:ext cx="253745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鍛鍊文字組織與表達自信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2149" y="1904999"/>
            <a:ext cx="148488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智慧互動與回饋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9749" y="2286000"/>
            <a:ext cx="3774947" cy="4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50" b="1">
                <a:solidFill>
                  <a:srgbClr val="58A47E"/>
                </a:solidFill>
                <a:latin typeface="Microsoft JhengHei"/>
                <a:ea typeface="Microsoft JhengHei"/>
              </a:rPr>
              <a:t>Google AI 賦能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999" y="2971800"/>
            <a:ext cx="29641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AI 助教即時賞識肯定思考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999" y="3530599"/>
            <a:ext cx="27508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引導孩子發現盲點深入探究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999" y="4089400"/>
            <a:ext cx="27508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接納多元觀點，建立成就感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999" y="4648200"/>
            <a:ext cx="27508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解鎖閱讀認證，激發自律力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" y="5689599"/>
            <a:ext cx="129997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高老師的初心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7899" y="5651500"/>
            <a:ext cx="6335267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C5E8A"/>
                </a:solidFill>
                <a:latin typeface="Microsoft JhengHei"/>
                <a:ea typeface="Microsoft JhengHei"/>
              </a:rPr>
              <a:t>把科技化為學習翅膀，讓孩子在對話中學會深度思考與理解！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gear-no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11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7956803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【長篇閱讀深耕】《冒險齒輪》少兒原創小說庫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610768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高老師親自開發・中英即時對照・語音朗讀・引導孩子靜心閱讀長篇小說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649" y="1904999"/>
            <a:ext cx="1669795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克服長文閱讀恐懼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49" y="2286000"/>
            <a:ext cx="1982723" cy="4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50" b="1">
                <a:solidFill>
                  <a:srgbClr val="E88D67"/>
                </a:solidFill>
                <a:latin typeface="Microsoft JhengHei"/>
                <a:ea typeface="Microsoft JhengHei"/>
              </a:rPr>
              <a:t>原創長篇小說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99" y="2971800"/>
            <a:ext cx="27508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少兒專屬原創科幻解謎長篇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99" y="3530599"/>
            <a:ext cx="27508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告別只看漫畫與短影片習慣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99" y="4089400"/>
            <a:ext cx="27508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懸疑緊湊情節引領深度沉浸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99" y="4648200"/>
            <a:ext cx="27508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循序漸進培養長文專注耐性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399" y="1904999"/>
            <a:ext cx="1669795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打破語言閱讀隔閡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999" y="2286000"/>
            <a:ext cx="1982723" cy="4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50" b="1">
                <a:solidFill>
                  <a:srgbClr val="2C5E8A"/>
                </a:solidFill>
                <a:latin typeface="Microsoft JhengHei"/>
                <a:ea typeface="Microsoft JhengHei"/>
              </a:rPr>
              <a:t>中英雙語對照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49" y="2971800"/>
            <a:ext cx="29641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中文與英文即時切換並列呈現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7249" y="3530599"/>
            <a:ext cx="29641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照顧英語佳但中文吃力的孩子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7249" y="4089400"/>
            <a:ext cx="27508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雙語沉浸對照，拓展雙語力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7249" y="4648200"/>
            <a:ext cx="27508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無障礙共享閱讀冒險的樂趣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2149" y="1904999"/>
            <a:ext cx="1669795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多感官沉浸式體驗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9749" y="2286000"/>
            <a:ext cx="1982723" cy="4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50" b="1">
                <a:solidFill>
                  <a:srgbClr val="58A47E"/>
                </a:solidFill>
                <a:latin typeface="Microsoft JhengHei"/>
                <a:ea typeface="Microsoft JhengHei"/>
              </a:rPr>
              <a:t>智慧語音朗讀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999" y="2971800"/>
            <a:ext cx="29641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內建語音朗讀有聲書隨點隨聽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999" y="3530599"/>
            <a:ext cx="29641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照顧不同學習特質與吸收風格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999" y="4089400"/>
            <a:ext cx="27508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解謎實驗室與專屬閱讀成就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999" y="4648200"/>
            <a:ext cx="29641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激發孩子主動追讀的內在動力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" y="5689599"/>
            <a:ext cx="129997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教學轉變心法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7899" y="5651500"/>
            <a:ext cx="6107683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C5E8A"/>
                </a:solidFill>
                <a:latin typeface="Microsoft JhengHei"/>
                <a:ea typeface="Microsoft JhengHei"/>
              </a:rPr>
              <a:t>給孩子真正想看的故事，從被動催讀，變為主動廢寢忘食！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12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10175747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學業成就與多元發展：115 學年度第一學期成績評量辦法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6477507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定期評量重要時程 × 定期50%平時50%黃金比例 × 適性多元評量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649" y="1892299"/>
            <a:ext cx="873251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重要時程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49" y="2178050"/>
            <a:ext cx="2238755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E88D67"/>
                </a:solidFill>
                <a:latin typeface="Microsoft JhengHei"/>
                <a:ea typeface="Microsoft JhengHei"/>
              </a:rPr>
              <a:t>兩次定期評量日程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49" y="2628900"/>
            <a:ext cx="161289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第一次評量（期中考）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99" y="2876549"/>
            <a:ext cx="411632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• 115/11/5 (四)：國語、自然、英語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3111500"/>
            <a:ext cx="360425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• 115/11/6 (五)：社會、數學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49" y="3486150"/>
            <a:ext cx="161289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第二次評量（期末考）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3733799"/>
            <a:ext cx="4287011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• 116/01/12 (二)：國語、自然、英語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99" y="3968750"/>
            <a:ext cx="377494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• 116/01/13 (三)：社會、數學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499" y="4400550"/>
            <a:ext cx="191160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2C5E8A"/>
                </a:solidFill>
                <a:latin typeface="Microsoft JhengHei"/>
                <a:ea typeface="Microsoft JhengHei"/>
              </a:rPr>
              <a:t>◎ 考查注意事項叮嚀：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499" y="4622800"/>
            <a:ext cx="218185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718096"/>
                </a:solidFill>
                <a:latin typeface="Microsoft JhengHei"/>
                <a:ea typeface="Microsoft JhengHei"/>
              </a:rPr>
              <a:t>• 當節由任課老師親自監考。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499" y="4826000"/>
            <a:ext cx="275081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718096"/>
                </a:solidFill>
                <a:latin typeface="Microsoft JhengHei"/>
                <a:ea typeface="Microsoft JhengHei"/>
              </a:rPr>
              <a:t>• 請協助孩子提早兩週擬定複習計畫。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499" y="5029200"/>
            <a:ext cx="246633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718096"/>
                </a:solidFill>
                <a:latin typeface="Microsoft JhengHei"/>
                <a:ea typeface="Microsoft JhengHei"/>
              </a:rPr>
              <a:t>• 考前作息規律，充足睡眠迎戰！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9149" y="1892299"/>
            <a:ext cx="873251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計分原則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49" y="2178050"/>
            <a:ext cx="4030979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C5E8A"/>
                </a:solidFill>
                <a:latin typeface="Microsoft JhengHei"/>
                <a:ea typeface="Microsoft JhengHei"/>
              </a:rPr>
              <a:t>定期 50% ＋ 平時 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6749" y="2590799"/>
            <a:ext cx="1662683" cy="2190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25" b="1">
                <a:solidFill>
                  <a:srgbClr val="2C5E8A"/>
                </a:solidFill>
                <a:latin typeface="Microsoft JhengHei"/>
                <a:ea typeface="Microsoft JhengHei"/>
              </a:rPr>
              <a:t>◎ 破除一試定江山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2799" y="2794000"/>
            <a:ext cx="232409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D3748"/>
                </a:solidFill>
                <a:latin typeface="Microsoft JhengHei"/>
                <a:ea typeface="Microsoft JhengHei"/>
              </a:rPr>
              <a:t>平日扎實學習與定期考查同等關鍵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6749" y="3047999"/>
            <a:ext cx="1335531" cy="2190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25" b="1">
                <a:solidFill>
                  <a:srgbClr val="2C5E8A"/>
                </a:solidFill>
                <a:latin typeface="Microsoft JhengHei"/>
                <a:ea typeface="Microsoft JhengHei"/>
              </a:rPr>
              <a:t>◎ 國語／數學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2799" y="3251200"/>
            <a:ext cx="203961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D3748"/>
                </a:solidFill>
                <a:latin typeface="Microsoft JhengHei"/>
                <a:ea typeface="Microsoft JhengHei"/>
              </a:rPr>
              <a:t>定期紙筆50%＋平時50%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2799" y="3429000"/>
            <a:ext cx="417321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D3748"/>
                </a:solidFill>
                <a:latin typeface="Microsoft JhengHei"/>
                <a:ea typeface="Microsoft JhengHei"/>
              </a:rPr>
              <a:t>（隨堂15%、習作10-15%、作業10%、小考、作文）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6749" y="3683000"/>
            <a:ext cx="1826259" cy="2190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25" b="1">
                <a:solidFill>
                  <a:srgbClr val="2C5E8A"/>
                </a:solidFill>
                <a:latin typeface="Microsoft JhengHei"/>
                <a:ea typeface="Microsoft JhengHei"/>
              </a:rPr>
              <a:t>◎ 英語學科重視聽說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2799" y="3886200"/>
            <a:ext cx="275081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D3748"/>
                </a:solidFill>
                <a:latin typeface="Microsoft JhengHei"/>
                <a:ea typeface="Microsoft JhengHei"/>
              </a:rPr>
              <a:t>定期考期中(紙筆50%+聽力50%)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2799" y="4064000"/>
            <a:ext cx="317753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D3748"/>
                </a:solidFill>
                <a:latin typeface="Microsoft JhengHei"/>
                <a:ea typeface="Microsoft JhengHei"/>
              </a:rPr>
              <a:t>期末(紙筆40%+聽力40%+口說20%)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2799" y="4241800"/>
            <a:ext cx="232409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D3748"/>
                </a:solidFill>
                <a:latin typeface="Microsoft JhengHei"/>
                <a:ea typeface="Microsoft JhengHei"/>
              </a:rPr>
              <a:t>平時重視課堂參與態度佔 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6749" y="4495799"/>
            <a:ext cx="1662683" cy="2190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25" b="1">
                <a:solidFill>
                  <a:srgbClr val="2C5E8A"/>
                </a:solidFill>
                <a:latin typeface="Microsoft JhengHei"/>
                <a:ea typeface="Microsoft JhengHei"/>
              </a:rPr>
              <a:t>◎ 社會／自然科學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2799" y="4699000"/>
            <a:ext cx="317753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D3748"/>
                </a:solidFill>
                <a:latin typeface="Microsoft JhengHei"/>
                <a:ea typeface="Microsoft JhengHei"/>
              </a:rPr>
              <a:t>平時重視分組實驗、隨堂測驗、作業與學習態度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2649" y="1892299"/>
            <a:ext cx="873251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多元適性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0249" y="2178050"/>
            <a:ext cx="2494787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58A47E"/>
                </a:solidFill>
                <a:latin typeface="Microsoft JhengHei"/>
                <a:ea typeface="Microsoft JhengHei"/>
              </a:rPr>
              <a:t>藝能與彈性課程評量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0249" y="2590799"/>
            <a:ext cx="191160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58A47E"/>
                </a:solidFill>
                <a:latin typeface="Microsoft JhengHei"/>
                <a:ea typeface="Microsoft JhengHei"/>
              </a:rPr>
              <a:t>◎ 綜合活動（王新唯）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6299" y="2781300"/>
            <a:ext cx="3558540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0">
                <a:solidFill>
                  <a:srgbClr val="2D3748"/>
                </a:solidFill>
                <a:latin typeface="Microsoft JhengHei"/>
                <a:ea typeface="Microsoft JhengHei"/>
              </a:rPr>
              <a:t>課堂表現 50%・參與回饋 25%・合作溝通 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0249" y="3022600"/>
            <a:ext cx="1755139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58A47E"/>
                </a:solidFill>
                <a:latin typeface="Microsoft JhengHei"/>
                <a:ea typeface="Microsoft JhengHei"/>
              </a:rPr>
              <a:t>◎ 本土語（黃文珊）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96299" y="3213100"/>
            <a:ext cx="3558540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0">
                <a:solidFill>
                  <a:srgbClr val="2D3748"/>
                </a:solidFill>
                <a:latin typeface="Microsoft JhengHei"/>
                <a:ea typeface="Microsoft JhengHei"/>
              </a:rPr>
              <a:t>口語唸讀 40%・紙本評量 30%・平時態度 30%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0249" y="3454400"/>
            <a:ext cx="1598675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58A47E"/>
                </a:solidFill>
                <a:latin typeface="Microsoft JhengHei"/>
                <a:ea typeface="Microsoft JhengHei"/>
              </a:rPr>
              <a:t>◎ 美勞（陳雅婉）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6299" y="3644899"/>
            <a:ext cx="3558540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0">
                <a:solidFill>
                  <a:srgbClr val="2D3748"/>
                </a:solidFill>
                <a:latin typeface="Microsoft JhengHei"/>
                <a:ea typeface="Microsoft JhengHei"/>
              </a:rPr>
              <a:t>作品呈現 70%・上課態度 20%・多元評量 10%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0249" y="3886200"/>
            <a:ext cx="1598675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58A47E"/>
                </a:solidFill>
                <a:latin typeface="Microsoft JhengHei"/>
                <a:ea typeface="Microsoft JhengHei"/>
              </a:rPr>
              <a:t>◎ 音樂（陳欣妮）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6299" y="4076699"/>
            <a:ext cx="3558540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0">
                <a:solidFill>
                  <a:srgbClr val="2D3748"/>
                </a:solidFill>
                <a:latin typeface="Microsoft JhengHei"/>
                <a:ea typeface="Microsoft JhengHei"/>
              </a:rPr>
              <a:t>直笛評量 50%・實作發表 30%・學習態度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0249" y="4318000"/>
            <a:ext cx="2537459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58A47E"/>
                </a:solidFill>
                <a:latin typeface="Microsoft JhengHei"/>
                <a:ea typeface="Microsoft JhengHei"/>
              </a:rPr>
              <a:t>◎ 健康體育（趙睿超/陳逸敬）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6299" y="4508500"/>
            <a:ext cx="3298443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0">
                <a:solidFill>
                  <a:srgbClr val="2D3748"/>
                </a:solidFill>
                <a:latin typeface="Microsoft JhengHei"/>
                <a:ea typeface="Microsoft JhengHei"/>
              </a:rPr>
              <a:t>體育技能 60%・態度 30%・出席率 10%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0249" y="4749799"/>
            <a:ext cx="191160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58A47E"/>
                </a:solidFill>
                <a:latin typeface="Microsoft JhengHei"/>
                <a:ea typeface="Microsoft JhengHei"/>
              </a:rPr>
              <a:t>◎ 數位科技（高志賢）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96299" y="4940300"/>
            <a:ext cx="3558540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0">
                <a:solidFill>
                  <a:srgbClr val="2D3748"/>
                </a:solidFill>
                <a:latin typeface="Microsoft JhengHei"/>
                <a:ea typeface="Microsoft JhengHei"/>
              </a:rPr>
              <a:t>期末實作 50%・作業評量 40%・學習態度 10%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649" y="5816600"/>
            <a:ext cx="1285747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高老師育人理念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39949" y="5797550"/>
            <a:ext cx="8013699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75" b="1">
                <a:solidFill>
                  <a:srgbClr val="2C5E8A"/>
                </a:solidFill>
                <a:latin typeface="Microsoft JhengHei"/>
                <a:ea typeface="Microsoft JhengHei"/>
              </a:rPr>
              <a:t>「成績是檢視學習盲點的工具，而非定義孩子的標籤。看重平日當責，讓孩子在進步中看見自信！」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digital-w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13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7956803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科技是翅膀，不是猛獸：高老師的 3C 哲學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610768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不把 3C 當洪水猛獸・擁抱數位工具作為高年級自主學習的強大助力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899" y="1987550"/>
            <a:ext cx="2978403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傳統視角 vs. 高老師視角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99" y="2368550"/>
            <a:ext cx="3789171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E88D67"/>
                </a:solidFill>
                <a:latin typeface="Microsoft JhengHei"/>
                <a:ea typeface="Microsoft JhengHei"/>
              </a:rPr>
              <a:t>從全面防堵轉為正向賦能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199" y="3003549"/>
            <a:ext cx="405942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3C 數位能力是未來的關鍵競爭力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199" y="3625850"/>
            <a:ext cx="405942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一味盲目禁止，只會讓孩子私下使用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199" y="4248150"/>
            <a:ext cx="4301235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與其把科技當敵人，不如教孩子善用它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199" y="4870450"/>
            <a:ext cx="405942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引導孩子成為數位工具的聰明掌控者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5399" y="1987550"/>
            <a:ext cx="1783587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學習上的強大助力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2999" y="2368550"/>
            <a:ext cx="4116323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2C5E8A"/>
                </a:solidFill>
                <a:latin typeface="Microsoft JhengHei"/>
                <a:ea typeface="Microsoft JhengHei"/>
              </a:rPr>
              <a:t>把 3C 用在對的地方！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699" y="3003549"/>
            <a:ext cx="405942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查閱科學百科、歷史文獻與最新知識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699" y="3625850"/>
            <a:ext cx="405942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課業難題主動搜尋、思辨與交叉驗證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699" y="4248150"/>
            <a:ext cx="405942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分組專案協作、簡報製作與資料統整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699" y="4870450"/>
            <a:ext cx="4301235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化被動娛樂滑機，為主動數位探究解題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digital-discip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14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7217155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親師步調一致：3C 數位健康與自律約定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610768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在家庭中建立健康的 3C 使用規範・陪伴孩子養成自我節制的好習慣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099" y="1943100"/>
            <a:ext cx="18973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</a:rPr>
              <a:t>明確約定使用時限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6249" y="1917700"/>
            <a:ext cx="5510275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0">
                <a:solidFill>
                  <a:srgbClr val="2D3748"/>
                </a:solidFill>
                <a:latin typeface="Microsoft JhengHei"/>
                <a:ea typeface="Microsoft JhengHei"/>
              </a:rPr>
              <a:t>每天約定固定使用時間，時間一到自覺休息護眼。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099" y="2990849"/>
            <a:ext cx="18973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</a:rPr>
              <a:t>公共空間公開使用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6249" y="2965450"/>
            <a:ext cx="6235699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0">
                <a:solidFill>
                  <a:srgbClr val="2D3748"/>
                </a:solidFill>
                <a:latin typeface="Microsoft JhengHei"/>
                <a:ea typeface="Microsoft JhengHei"/>
              </a:rPr>
              <a:t>在客廳等公共空間使用，睡前 1 小時手機不進臥室。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099" y="4038599"/>
            <a:ext cx="21107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</a:rPr>
              <a:t>用開放溝通代替沒收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6249" y="4013199"/>
            <a:ext cx="5993891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0">
                <a:solidFill>
                  <a:srgbClr val="2D3748"/>
                </a:solidFill>
                <a:latin typeface="Microsoft JhengHei"/>
                <a:ea typeface="Microsoft JhengHei"/>
              </a:rPr>
              <a:t>多聊聊在網路上看見什麼，以傾聽討論代替高壓沒收。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099" y="5086350"/>
            <a:ext cx="21107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</a:rPr>
              <a:t>數位素養與自我負責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6249" y="5060950"/>
            <a:ext cx="5993891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0">
                <a:solidFill>
                  <a:srgbClr val="2D3748"/>
                </a:solidFill>
                <a:latin typeface="Microsoft JhengHei"/>
                <a:ea typeface="Microsoft JhengHei"/>
              </a:rPr>
              <a:t>教導保護個人隱私、辨識網路假訊息，學會自我當責。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health-hygi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15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7217155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【學務處衛教】校園健康：洗手與咳嗽禮節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592277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上呼吸道感染防護力從日常做起・少一點病毒傳播，多一點安心學習！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899" y="1987550"/>
            <a:ext cx="1186179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守則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99" y="2368550"/>
            <a:ext cx="2807715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2C5E8A"/>
                </a:solidFill>
                <a:latin typeface="Microsoft JhengHei"/>
                <a:ea typeface="Microsoft JhengHei"/>
              </a:rPr>
              <a:t>手部清潔做好做滿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199" y="3003549"/>
            <a:ext cx="4784851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洗手七字訣：內・外・夾・弓・大・立・腕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199" y="3625850"/>
            <a:ext cx="5026659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每次搓洗至少 40 秒，吃東西前務必洗手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199" y="4248150"/>
            <a:ext cx="4301235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擤鼻涕、打噴嚏、如廁後徹底洗淨雙手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199" y="4870450"/>
            <a:ext cx="4543043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以清水徹底沖淨肥皂泡沫，並務必擦乾！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5399" y="1987550"/>
            <a:ext cx="1186179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守則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2999" y="2368550"/>
            <a:ext cx="2480563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E88D67"/>
                </a:solidFill>
                <a:latin typeface="Microsoft JhengHei"/>
                <a:ea typeface="Microsoft JhengHei"/>
              </a:rPr>
              <a:t>咳嗽禮節要做到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699" y="3003549"/>
            <a:ext cx="4543043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咳嗽或打噴嚏時，以手肘或面紙遮掩口鼻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699" y="3625850"/>
            <a:ext cx="4784851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使用後的衛生紙面紙，立即妥善丟入垃圾桶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699" y="4248150"/>
            <a:ext cx="4784851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有呼吸道症狀時全程戴口罩，保護彼此安全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699" y="4870450"/>
            <a:ext cx="4784851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落實咳嗽禮節，是對同儕最溫暖貼心的尊重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health-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16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6477507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【學務處衛教】通風換氣與生病不上課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5737859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上呼吸道感染防護力從日常做起・不舒服別硬撐，落實健康自主管理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899" y="1987550"/>
            <a:ext cx="1186179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守則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99" y="2368550"/>
            <a:ext cx="2807715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58A47E"/>
                </a:solidFill>
                <a:latin typeface="Microsoft JhengHei"/>
                <a:ea typeface="Microsoft JhengHei"/>
              </a:rPr>
              <a:t>教室保持通風良好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199" y="3003549"/>
            <a:ext cx="3817619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適時開窗維持對流，確保空氣流通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199" y="3625850"/>
            <a:ext cx="3817619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避免長時間處於通風不良密閉空間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199" y="4248150"/>
            <a:ext cx="405942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個人水壺、餐具專屬專用，絕不共用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199" y="4870450"/>
            <a:ext cx="3817619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維持良好通風，大幅降低病毒傳播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5399" y="1987550"/>
            <a:ext cx="1186179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守則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2999" y="2368550"/>
            <a:ext cx="2807715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D64529"/>
                </a:solidFill>
                <a:latin typeface="Microsoft JhengHei"/>
                <a:ea typeface="Microsoft JhengHei"/>
              </a:rPr>
              <a:t>不舒服就別硬撐！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699" y="3003549"/>
            <a:ext cx="4543043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注意咳嗽、喉嚨痛、流鼻水、發燒等症狀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699" y="3625850"/>
            <a:ext cx="405942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充分休息補充水分，落實生病不上課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699" y="4248150"/>
            <a:ext cx="4301235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發燒（耳溫≧38℃）請在家休養管理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699" y="4870450"/>
            <a:ext cx="4784851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D3748"/>
                </a:solidFill>
                <a:latin typeface="Microsoft JhengHei"/>
                <a:ea typeface="Microsoft JhengHei"/>
              </a:rPr>
              <a:t>退燒滿 24 小時後再返校，守護同儕！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attendance-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17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6847331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【學務處宣導】學生請假方式與通報管道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425856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明確掌握學生差勤行蹤・落實校園安全第一道防線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49" y="1866899"/>
            <a:ext cx="3177539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當日上午 8:30 前完成通報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8499" y="1892299"/>
            <a:ext cx="7245603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0">
                <a:solidFill>
                  <a:srgbClr val="2D3748"/>
                </a:solidFill>
                <a:latin typeface="Microsoft JhengHei"/>
                <a:ea typeface="Microsoft JhengHei"/>
              </a:rPr>
              <a:t>孩子若因病或事故不克到校，請家長務必於當日 8:30 前告知。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49" y="2743200"/>
            <a:ext cx="2779267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通報管道一：LINE 訊息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499" y="2768600"/>
            <a:ext cx="7245603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0">
                <a:solidFill>
                  <a:srgbClr val="2D3748"/>
                </a:solidFill>
                <a:latin typeface="Microsoft JhengHei"/>
                <a:ea typeface="Microsoft JhengHei"/>
              </a:rPr>
              <a:t>以 LINE 訊息告知高老師，方便導師第一時間掌握差勤與原因。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49" y="3619499"/>
            <a:ext cx="2580131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通報管道二：學校總機專線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8499" y="3644899"/>
            <a:ext cx="881634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0">
                <a:solidFill>
                  <a:srgbClr val="2D3748"/>
                </a:solidFill>
                <a:latin typeface="Microsoft JhengHei"/>
                <a:ea typeface="Microsoft JhengHei"/>
              </a:rPr>
              <a:t>撥打總機 04-26567968 轉分機 720 或 724 由生輔組代為登記。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49" y="4495799"/>
            <a:ext cx="1783587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假單補辦手續規範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8499" y="4521199"/>
            <a:ext cx="7018019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0">
                <a:solidFill>
                  <a:srgbClr val="2D3748"/>
                </a:solidFill>
                <a:latin typeface="Microsoft JhengHei"/>
                <a:ea typeface="Microsoft JhengHei"/>
              </a:rPr>
              <a:t>事假須事前填單提出；病喪假得於事後 3 日內補齊請假單手續。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49" y="5372100"/>
            <a:ext cx="2580131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連續 3 日以上就醫證明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8499" y="5397500"/>
            <a:ext cx="7245603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0">
                <a:solidFill>
                  <a:srgbClr val="2D3748"/>
                </a:solidFill>
                <a:latin typeface="Microsoft JhengHei"/>
                <a:ea typeface="Microsoft JhengHei"/>
              </a:rPr>
              <a:t>若病假連續滿 3 日（含）以上，返校時須附醫療院所之就醫證明。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attendance-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18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6847331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【學務處宣導】審核層級與外出安全管制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425856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嚴謹校園安全管理制度・共同守護每位學童的平安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899" y="1987550"/>
            <a:ext cx="1385315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行政審核規範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99" y="2368550"/>
            <a:ext cx="2807715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2C5E8A"/>
                </a:solidFill>
                <a:latin typeface="Microsoft JhengHei"/>
                <a:ea typeface="Microsoft JhengHei"/>
              </a:rPr>
              <a:t>請假分級核准權責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799" y="2940050"/>
            <a:ext cx="2366771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C5E8A"/>
                </a:solidFill>
                <a:latin typeface="Microsoft JhengHei"/>
                <a:ea typeface="Microsoft JhengHei"/>
              </a:rPr>
              <a:t>請假 2 日以內：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799" y="3232149"/>
            <a:ext cx="38176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由級任導師親自核准，落實差勤管理。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799" y="3587749"/>
            <a:ext cx="3334003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C5E8A"/>
                </a:solidFill>
                <a:latin typeface="Microsoft JhengHei"/>
                <a:ea typeface="Microsoft JhengHei"/>
              </a:rPr>
              <a:t>請假 3 至未滿 5 日：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799" y="3879850"/>
            <a:ext cx="38176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假單送生輔組，呈學務主任核定批准。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4235449"/>
            <a:ext cx="2366771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C5E8A"/>
                </a:solidFill>
                <a:latin typeface="Microsoft JhengHei"/>
                <a:ea typeface="Microsoft JhengHei"/>
              </a:rPr>
              <a:t>請假 5 日以上：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4527550"/>
            <a:ext cx="360425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假單送生輔組，呈報校長親自核定。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4883150"/>
            <a:ext cx="1883155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C5E8A"/>
                </a:solidFill>
                <a:latin typeface="Microsoft JhengHei"/>
                <a:ea typeface="Microsoft JhengHei"/>
              </a:rPr>
              <a:t>義務教育常規：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5175250"/>
            <a:ext cx="38176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國小屬義務教育階段，不得隨意休學。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5399" y="1987550"/>
            <a:ext cx="1385315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校門管制規定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2999" y="2368550"/>
            <a:ext cx="3134867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E88D67"/>
                </a:solidFill>
                <a:latin typeface="Microsoft JhengHei"/>
                <a:ea typeface="Microsoft JhengHei"/>
              </a:rPr>
              <a:t>臨時外出與差勤防護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299" y="2940050"/>
            <a:ext cx="1883155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E88D67"/>
                </a:solidFill>
                <a:latin typeface="Microsoft JhengHei"/>
                <a:ea typeface="Microsoft JhengHei"/>
              </a:rPr>
              <a:t>臨時外出通報：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299" y="3232149"/>
            <a:ext cx="38176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家長須事先與導師電話聯繫確認事由。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299" y="3587749"/>
            <a:ext cx="2124963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E88D67"/>
                </a:solidFill>
                <a:latin typeface="Microsoft JhengHei"/>
                <a:ea typeface="Microsoft JhengHei"/>
              </a:rPr>
              <a:t>警衛室換證接回：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299" y="3879850"/>
            <a:ext cx="40309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導師通知警衛室，核對身分無誤後接回。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299" y="4235449"/>
            <a:ext cx="1883155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E88D67"/>
                </a:solidFill>
                <a:latin typeface="Microsoft JhengHei"/>
                <a:ea typeface="Microsoft JhengHei"/>
              </a:rPr>
              <a:t>中輟追蹤機制：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299" y="4527550"/>
            <a:ext cx="467105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無故曠課達 3 日者，依法通報教育局追蹤。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299" y="4883150"/>
            <a:ext cx="1883155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E88D67"/>
                </a:solidFill>
                <a:latin typeface="Microsoft JhengHei"/>
                <a:ea typeface="Microsoft JhengHei"/>
              </a:rPr>
              <a:t>校園安全至上：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299" y="5175250"/>
            <a:ext cx="42443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>
                <a:solidFill>
                  <a:srgbClr val="2D3748"/>
                </a:solidFill>
                <a:latin typeface="Microsoft JhengHei"/>
                <a:ea typeface="Microsoft JhengHei"/>
              </a:rPr>
              <a:t>精準掌握孩子行蹤，是親師最重大的責任！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grad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19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6477507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倒數計時的小學時光：六年級專屬盛事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4443475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小學最後一年，攜手打造孩子一輩子珍藏的青春印記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899" y="1987550"/>
            <a:ext cx="1783587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青春最璀璨的冒險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99" y="2368550"/>
            <a:ext cx="2153411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2C5E8A"/>
                </a:solidFill>
                <a:latin typeface="Microsoft JhengHei"/>
                <a:ea typeface="Microsoft JhengHei"/>
              </a:rPr>
              <a:t>畢業旅行啟程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199" y="3003549"/>
            <a:ext cx="339089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D3748"/>
                </a:solidFill>
                <a:latin typeface="Microsoft JhengHei"/>
                <a:ea typeface="Microsoft JhengHei"/>
              </a:rPr>
              <a:t>學習團體生活與自主獨立照顧能力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199" y="3435350"/>
            <a:ext cx="339089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D3748"/>
                </a:solidFill>
                <a:latin typeface="Microsoft JhengHei"/>
                <a:ea typeface="Microsoft JhengHei"/>
              </a:rPr>
              <a:t>走出教室實境體驗，拓展同窗眼界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199" y="3867149"/>
            <a:ext cx="339089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D3748"/>
                </a:solidFill>
                <a:latin typeface="Microsoft JhengHei"/>
                <a:ea typeface="Microsoft JhengHei"/>
              </a:rPr>
              <a:t>深化同學之間一生珍貴的夥伴情誼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199" y="4298950"/>
            <a:ext cx="339089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D3748"/>
                </a:solidFill>
                <a:latin typeface="Microsoft JhengHei"/>
                <a:ea typeface="Microsoft JhengHei"/>
              </a:rPr>
              <a:t>安全第一原則，細緻規劃每項參訪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199" y="4730750"/>
            <a:ext cx="339089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D3748"/>
                </a:solidFill>
                <a:latin typeface="Microsoft JhengHei"/>
                <a:ea typeface="Microsoft JhengHei"/>
              </a:rPr>
              <a:t>由學校學務處統籌，公開透明安心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2899" y="1987550"/>
            <a:ext cx="1982723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定格六年底蘊的美好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499" y="2368550"/>
            <a:ext cx="2480563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58A47E"/>
                </a:solidFill>
                <a:latin typeface="Microsoft JhengHei"/>
                <a:ea typeface="Microsoft JhengHei"/>
              </a:rPr>
              <a:t>畢業紀念冊編撰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7199" y="3003549"/>
            <a:ext cx="31775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D3748"/>
                </a:solidFill>
                <a:latin typeface="Microsoft JhengHei"/>
                <a:ea typeface="Microsoft JhengHei"/>
              </a:rPr>
              <a:t>記錄校園六年歡笑、汗水與成長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7199" y="3435350"/>
            <a:ext cx="31775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D3748"/>
                </a:solidFill>
                <a:latin typeface="Microsoft JhengHei"/>
                <a:ea typeface="Microsoft JhengHei"/>
              </a:rPr>
              <a:t>每位孩子都有專屬篇幅燦爛笑顏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199" y="3867149"/>
            <a:ext cx="31775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D3748"/>
                </a:solidFill>
                <a:latin typeface="Microsoft JhengHei"/>
                <a:ea typeface="Microsoft JhengHei"/>
              </a:rPr>
              <a:t>親師生共同寫下真摯祝福與期許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7199" y="4298950"/>
            <a:ext cx="31775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D3748"/>
                </a:solidFill>
                <a:latin typeface="Microsoft JhengHei"/>
                <a:ea typeface="Microsoft JhengHei"/>
              </a:rPr>
              <a:t>專業團隊細緻攝影，高品質美編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7199" y="4730750"/>
            <a:ext cx="31775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D3748"/>
                </a:solidFill>
                <a:latin typeface="Microsoft JhengHei"/>
                <a:ea typeface="Microsoft JhengHei"/>
              </a:rPr>
              <a:t>長大後隨時翻閱的無價童年禮物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" y="5651500"/>
            <a:ext cx="129997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高老師的心願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7899" y="5613400"/>
            <a:ext cx="7473187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C5E8A"/>
                </a:solidFill>
                <a:latin typeface="Microsoft JhengHei"/>
                <a:ea typeface="Microsoft JhengHei"/>
              </a:rPr>
              <a:t>讓每一位 601 的孩子，都能帶著被滿滿愛意包裹的溫暖記憶畢業！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album-qu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20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9436099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【畢業專案費用公開】畢業紀念冊規格、攝影與費用預估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8326627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天藝數位影像工坊專案報價・直式 A4 蝴蝶書硬殼精裝・每生專屬頁・含升學證件照・透明把關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649" y="1828800"/>
            <a:ext cx="121462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價格公開透明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49" y="2178050"/>
            <a:ext cx="3774947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E88D67"/>
                </a:solidFill>
                <a:latin typeface="Microsoft JhengHei"/>
                <a:ea typeface="Microsoft JhengHei"/>
              </a:rPr>
              <a:t>【費用預估】每本 870 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749" y="2813050"/>
            <a:ext cx="314909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購買整本紀念冊：每本 870 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749" y="3321050"/>
            <a:ext cx="407365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僅拍照不購冊者：每人 250 元（工本費）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749" y="3829050"/>
            <a:ext cx="2594355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依班級實際購買人數計算總價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749" y="4337050"/>
            <a:ext cx="314909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含全套攝影＋精修＋證件照＋精裝書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749" y="4845050"/>
            <a:ext cx="314909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絕無任何隱形加價，驗收滿意後付款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399" y="1828800"/>
            <a:ext cx="121462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典藏級蝴蝶裝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4999" y="2178050"/>
            <a:ext cx="4030979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C5E8A"/>
                </a:solidFill>
                <a:latin typeface="Microsoft JhengHei"/>
                <a:ea typeface="Microsoft JhengHei"/>
              </a:rPr>
              <a:t>【精裝規格】直式 A4 蝴蝶書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499" y="2813050"/>
            <a:ext cx="425856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直式 A4 蝴蝶書：180 度跨頁平攤不吃字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499" y="3321050"/>
            <a:ext cx="333400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封面：48 盎司厚板硬殼＋特銅亮膜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5499" y="3829050"/>
            <a:ext cx="333400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內頁：200P 銅西雙面上膜防潑水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5499" y="4337050"/>
            <a:ext cx="425856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每生專屬頁：28 位學生每人享有 1 整頁！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5499" y="4845050"/>
            <a:ext cx="4443475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全冊 36~40 頁，含師長、活動、個人與留言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2149" y="1828800"/>
            <a:ext cx="121462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省下額外開銷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9749" y="2178050"/>
            <a:ext cx="3774947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58A47E"/>
                </a:solidFill>
                <a:latin typeface="Microsoft JhengHei"/>
                <a:ea typeface="Microsoft JhengHei"/>
              </a:rPr>
              <a:t>【攝影配套】含 2 吋證件照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0249" y="2813050"/>
            <a:ext cx="370459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升國中證件照：每人 2 吋 8 張＋QR 電子檔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0249" y="3321050"/>
            <a:ext cx="370459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個人戶外生活照：每人專屬拍攝 3 張入冊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0249" y="3829050"/>
            <a:ext cx="370459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小組與團體照：5-6 人分組照＋3 款全班團照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0249" y="4337050"/>
            <a:ext cx="370459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校正保障：印刷前進行 2～3 次嚴格校對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0249" y="4845050"/>
            <a:ext cx="370459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2D3748"/>
                </a:solidFill>
                <a:latin typeface="Microsoft JhengHei"/>
                <a:ea typeface="Microsoft JhengHei"/>
              </a:rPr>
              <a:t>預計 116.06.05 畢業前交貨，把關品質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" y="5734050"/>
            <a:ext cx="129997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導師把關原則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6149" y="5721349"/>
            <a:ext cx="85115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2C5E8A"/>
                </a:solidFill>
                <a:latin typeface="Microsoft JhengHei"/>
                <a:ea typeface="Microsoft JhengHei"/>
              </a:rPr>
              <a:t>「價格公開、品質把關；省下家長另外拍證件照的花費，更為孩子定格最燦爛的童年！」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21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9066275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班級自治：推選 601 班親會「會長」與「總務」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592277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正因有畢業旅行與畢業紀念冊等重大專案，更需要家長幹部共同把關！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899" y="1987550"/>
            <a:ext cx="1584451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幹部推選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99" y="2368550"/>
            <a:ext cx="3134867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2C5E8A"/>
                </a:solidFill>
                <a:latin typeface="Microsoft JhengHei"/>
                <a:ea typeface="Microsoft JhengHei"/>
              </a:rPr>
              <a:t>班親會「會長」職責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199" y="3003549"/>
            <a:ext cx="3604259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D3748"/>
                </a:solidFill>
                <a:latin typeface="Microsoft JhengHei"/>
                <a:ea typeface="Microsoft JhengHei"/>
              </a:rPr>
              <a:t>代表六年一班全體家長發聲與協調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199" y="3498850"/>
            <a:ext cx="4514595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D3748"/>
                </a:solidFill>
                <a:latin typeface="Microsoft JhengHei"/>
                <a:ea typeface="Microsoft JhengHei"/>
              </a:rPr>
              <a:t>協助策劃支援班級重大活動（畢旅、專案）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199" y="3994150"/>
            <a:ext cx="4059427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D3748"/>
                </a:solidFill>
                <a:latin typeface="Microsoft JhengHei"/>
                <a:ea typeface="Microsoft JhengHei"/>
              </a:rPr>
              <a:t>擔任家長與學校行政、導師間最佳橋樑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199" y="4489450"/>
            <a:ext cx="4287011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D3748"/>
                </a:solidFill>
                <a:latin typeface="Microsoft JhengHei"/>
                <a:ea typeface="Microsoft JhengHei"/>
              </a:rPr>
              <a:t>凝聚全班家長向心力，營造溫暖親師社群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199" y="4984750"/>
            <a:ext cx="4287011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D3748"/>
                </a:solidFill>
                <a:latin typeface="Microsoft JhengHei"/>
                <a:ea typeface="Microsoft JhengHei"/>
              </a:rPr>
              <a:t>歡迎熱心、富使命感的家長自薦或推薦！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5399" y="1987550"/>
            <a:ext cx="1584451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幹部推選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2999" y="2368550"/>
            <a:ext cx="3134867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E88D67"/>
                </a:solidFill>
                <a:latin typeface="Microsoft JhengHei"/>
                <a:ea typeface="Microsoft JhengHei"/>
              </a:rPr>
              <a:t>班親會「總務」職責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699" y="3003549"/>
            <a:ext cx="3604259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D3748"/>
                </a:solidFill>
                <a:latin typeface="Microsoft JhengHei"/>
                <a:ea typeface="Microsoft JhengHei"/>
              </a:rPr>
              <a:t>管理班級專屬經費帳戶，專款專用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699" y="3498850"/>
            <a:ext cx="4287011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D3748"/>
                </a:solidFill>
                <a:latin typeface="Microsoft JhengHei"/>
                <a:ea typeface="Microsoft JhengHei"/>
              </a:rPr>
              <a:t>負責畢業各項活動與專案款項之收取保管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699" y="3994150"/>
            <a:ext cx="3831843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D3748"/>
                </a:solidFill>
                <a:latin typeface="Microsoft JhengHei"/>
                <a:ea typeface="Microsoft JhengHei"/>
              </a:rPr>
              <a:t>完整保留每一筆開銷單據與合法發票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9699" y="4489450"/>
            <a:ext cx="4059427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D3748"/>
                </a:solidFill>
                <a:latin typeface="Microsoft JhengHei"/>
                <a:ea typeface="Microsoft JhengHei"/>
              </a:rPr>
              <a:t>定期公開收支報表，財務透明全員安心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9699" y="4984750"/>
            <a:ext cx="4287011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D3748"/>
                </a:solidFill>
                <a:latin typeface="Microsoft JhengHei"/>
                <a:ea typeface="Microsoft JhengHei"/>
              </a:rPr>
              <a:t>歡迎細心、具財務經驗的家長熱情加入！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finance-p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22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7217155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財務公開透明：高老師與班親會的三大承諾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592277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讓每筆經費用在刀口・公開監督・老師專心教學、家長百分之百安心！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799" y="2012950"/>
            <a:ext cx="2124963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</a:rPr>
              <a:t>承諾一：專款專用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999" y="2400300"/>
            <a:ext cx="6591299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2D3748"/>
                </a:solidFill>
                <a:latin typeface="Microsoft JhengHei"/>
                <a:ea typeface="Microsoft JhengHei"/>
              </a:rPr>
              <a:t>班級與畢業所有經費獨立建帳保管，絕不任意挪作他用。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799" y="3409950"/>
            <a:ext cx="2124963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</a:rPr>
              <a:t>承諾二：帳目透明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999" y="3797300"/>
            <a:ext cx="7615427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2D3748"/>
                </a:solidFill>
                <a:latin typeface="Microsoft JhengHei"/>
                <a:ea typeface="Microsoft JhengHei"/>
              </a:rPr>
              <a:t>所有單據與發票完整建檔留存，定期於群組公開清楚明細供檢視。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799" y="4806949"/>
            <a:ext cx="2124963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</a:rPr>
              <a:t>承諾三：雙人覆核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999" y="5194300"/>
            <a:ext cx="7871459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2D3748"/>
                </a:solidFill>
                <a:latin typeface="Microsoft JhengHei"/>
                <a:ea typeface="Microsoft JhengHei"/>
              </a:rPr>
              <a:t>總務負責記帳、會長負責監督核銷，雙重把關確保每分錢清清楚楚。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committ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23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4628387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誠摯致謝：家長委員會委員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610768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感謝家長委員熱心承擔重任・成為六年一班與全校孩子最堅實的溫暖後盾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99" y="1987550"/>
            <a:ext cx="211073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</a:rPr>
              <a:t>衷心感謝・熱誠奉獻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99" y="2400300"/>
            <a:ext cx="6676643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>
                <a:solidFill>
                  <a:srgbClr val="2C5E8A"/>
                </a:solidFill>
                <a:latin typeface="Microsoft JhengHei"/>
                <a:ea typeface="Microsoft JhengHei"/>
              </a:rPr>
              <a:t>恭喜並感謝本班家長委員會委員確認產生！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99" y="2908300"/>
            <a:ext cx="7700771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0">
                <a:solidFill>
                  <a:srgbClr val="2D3748"/>
                </a:solidFill>
                <a:latin typeface="Microsoft JhengHei"/>
                <a:ea typeface="Microsoft JhengHei"/>
              </a:rPr>
              <a:t>經過前期的意願調查與推選，我們班已順利確定學校家長委員會委員名單。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399" y="3600450"/>
            <a:ext cx="129997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搭建親師橋樑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9999" y="3575049"/>
            <a:ext cx="5880099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0">
                <a:solidFill>
                  <a:srgbClr val="2D3748"/>
                </a:solidFill>
                <a:latin typeface="Microsoft JhengHei"/>
                <a:ea typeface="Microsoft JhengHei"/>
              </a:rPr>
              <a:t>代表班級參與學校校務會議，暢通班級與行政溝通管道。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399" y="4121149"/>
            <a:ext cx="129997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爭取豐沛資源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9999" y="4095749"/>
            <a:ext cx="5880099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0">
                <a:solidFill>
                  <a:srgbClr val="2D3748"/>
                </a:solidFill>
                <a:latin typeface="Microsoft JhengHei"/>
                <a:ea typeface="Microsoft JhengHei"/>
              </a:rPr>
              <a:t>為學童營造更優質學習環境，充實各項設備與活動基金。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399" y="4641850"/>
            <a:ext cx="129997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守護校園安全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9999" y="4616450"/>
            <a:ext cx="6107683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0">
                <a:solidFill>
                  <a:srgbClr val="2D3748"/>
                </a:solidFill>
                <a:latin typeface="Microsoft JhengHei"/>
                <a:ea typeface="Microsoft JhengHei"/>
              </a:rPr>
              <a:t>在各項校務決策中發揮家長專業，全面守護孩子身心安全。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399" y="5162550"/>
            <a:ext cx="129997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致上班級敬意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9999" y="5137150"/>
            <a:ext cx="6335267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0">
                <a:solidFill>
                  <a:srgbClr val="2D3748"/>
                </a:solidFill>
                <a:latin typeface="Microsoft JhengHei"/>
                <a:ea typeface="Microsoft JhengHei"/>
              </a:rPr>
              <a:t>高老師代表全班孩子與家長，致上最誠摯的感謝與熱烈掌聲！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volunte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24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6107683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熱忱招募：115學年度愛心志工隊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5552947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因為有您，孩子的安全更有保障；因為有您，孩子的笑容更加燦爛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899" y="1924049"/>
            <a:ext cx="1115059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通學守護組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99" y="2273300"/>
            <a:ext cx="3035299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E88D67"/>
                </a:solidFill>
                <a:latin typeface="Microsoft JhengHei"/>
                <a:ea typeface="Microsoft JhengHei"/>
              </a:rPr>
              <a:t>交通組：學童安全維護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499" y="2654300"/>
            <a:ext cx="3888739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2D3748"/>
                </a:solidFill>
                <a:latin typeface="Microsoft JhengHei"/>
                <a:ea typeface="Microsoft JhengHei"/>
              </a:rPr>
              <a:t>服務任務：上、下學時協助維護兒童交通安全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899" y="3035300"/>
            <a:ext cx="269392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執勤時段（週一至週五・彈性單選）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099" y="3390899"/>
            <a:ext cx="816355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早上時段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999" y="3365500"/>
            <a:ext cx="2779267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2C5E8A"/>
                </a:solidFill>
                <a:latin typeface="Microsoft JhengHei"/>
                <a:ea typeface="Microsoft JhengHei"/>
              </a:rPr>
              <a:t>07:10 - 07:50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499" y="3632199"/>
            <a:ext cx="2644139" cy="2190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25" b="0">
                <a:solidFill>
                  <a:srgbClr val="718096"/>
                </a:solidFill>
                <a:latin typeface="Microsoft JhengHei"/>
                <a:ea typeface="Microsoft JhengHei"/>
              </a:rPr>
              <a:t>• 晨間通學巔峰路口導護與疏導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099" y="3867149"/>
            <a:ext cx="816355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中午時段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0999" y="3841749"/>
            <a:ext cx="2779267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2C5E8A"/>
                </a:solidFill>
                <a:latin typeface="Microsoft JhengHei"/>
                <a:ea typeface="Microsoft JhengHei"/>
              </a:rPr>
              <a:t>12:45 - 13:10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499" y="4108450"/>
            <a:ext cx="2807715" cy="2190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25" b="0">
                <a:solidFill>
                  <a:srgbClr val="718096"/>
                </a:solidFill>
                <a:latin typeface="Microsoft JhengHei"/>
                <a:ea typeface="Microsoft JhengHei"/>
              </a:rPr>
              <a:t>• 低年級或半天放學離校安全護送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099" y="4343400"/>
            <a:ext cx="816355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下午時段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0999" y="4318000"/>
            <a:ext cx="2779267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2C5E8A"/>
                </a:solidFill>
                <a:latin typeface="Microsoft JhengHei"/>
                <a:ea typeface="Microsoft JhengHei"/>
              </a:rPr>
              <a:t>15:45 - 16:10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499" y="4584700"/>
            <a:ext cx="2644139" cy="2190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25" b="0">
                <a:solidFill>
                  <a:srgbClr val="718096"/>
                </a:solidFill>
                <a:latin typeface="Microsoft JhengHei"/>
                <a:ea typeface="Microsoft JhengHei"/>
              </a:rPr>
              <a:t>• 全校放學重要路段守望與交管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399" y="1924049"/>
            <a:ext cx="1115059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校園悅讀組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999" y="2273300"/>
            <a:ext cx="3319779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58A47E"/>
                </a:solidFill>
                <a:latin typeface="Microsoft JhengHei"/>
                <a:ea typeface="Microsoft JhengHei"/>
              </a:rPr>
              <a:t>圖書組：書籍整理與借還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999" y="2654300"/>
            <a:ext cx="425856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2D3748"/>
                </a:solidFill>
                <a:latin typeface="Microsoft JhengHei"/>
                <a:ea typeface="Microsoft JhengHei"/>
              </a:rPr>
              <a:t>服務任務：協助圖書室書籍整理、借閱歸還與推廣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035300"/>
            <a:ext cx="269392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執勤時段（週一至週五・上午半天）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8599" y="3390899"/>
            <a:ext cx="816355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值勤時間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2499" y="3365500"/>
            <a:ext cx="2779267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2C5E8A"/>
                </a:solidFill>
                <a:latin typeface="Microsoft JhengHei"/>
                <a:ea typeface="Microsoft JhengHei"/>
              </a:rPr>
              <a:t>08:30 - 11:30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6999" y="3632199"/>
            <a:ext cx="2971291" cy="2190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25" b="0">
                <a:solidFill>
                  <a:srgbClr val="718096"/>
                </a:solidFill>
                <a:latin typeface="Microsoft JhengHei"/>
                <a:ea typeface="Microsoft JhengHei"/>
              </a:rPr>
              <a:t>• 晨間半天服務，沉浸溫馨書香氣息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6699" y="4089400"/>
            <a:ext cx="75945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特別說明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2499" y="4076699"/>
            <a:ext cx="206806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C5E8A"/>
                </a:solidFill>
                <a:latin typeface="Microsoft JhengHei"/>
                <a:ea typeface="Microsoft JhengHei"/>
              </a:rPr>
              <a:t>先登記意願，開館即排班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0499" y="4337050"/>
            <a:ext cx="425856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2D3748"/>
                </a:solidFill>
                <a:latin typeface="Microsoft JhengHei"/>
                <a:ea typeface="Microsoft JhengHei"/>
              </a:rPr>
              <a:t>※ 待學校活動中心整修驗收完畢後，即刻安排入館值勤！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9" y="5289550"/>
            <a:ext cx="112928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志工報名方式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999" y="5575300"/>
            <a:ext cx="6662419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2D3748"/>
                </a:solidFill>
                <a:latin typeface="Microsoft JhengHei"/>
                <a:ea typeface="Microsoft JhengHei"/>
              </a:rPr>
              <a:t>1. 紙本回條：填寫通知單回條並勾選組別與方便時段，交由孩子帶回學校。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999" y="5797550"/>
            <a:ext cx="7586979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2C5E8A"/>
                </a:solidFill>
                <a:latin typeface="Microsoft JhengHei"/>
                <a:ea typeface="Microsoft JhengHei"/>
              </a:rPr>
              <a:t>2. 導師登記：亦可直接向高志賢老師口頭登記，或於 LINE 班級官方訊息報名！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commun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25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6477507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親師即時連線：攜手同行做孩子的橋樑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610768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孩子有任何狀況請第一時間與導師聯繫・親師互信合作比事後焦慮更有效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899" y="2019299"/>
            <a:ext cx="129997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平時日常聯繫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99" y="2432049"/>
            <a:ext cx="4073651" cy="4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50" b="1">
                <a:solidFill>
                  <a:srgbClr val="58A47E"/>
                </a:solidFill>
                <a:latin typeface="Microsoft JhengHei"/>
                <a:ea typeface="Microsoft JhengHei"/>
              </a:rPr>
              <a:t>LINE 官方訊息（推薦）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499" y="2940050"/>
            <a:ext cx="3177539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適用孩子平日學習狀況與作業諮詢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499" y="3295650"/>
            <a:ext cx="3376675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班級常規、作息或常態活動訊息交流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499" y="3651250"/>
            <a:ext cx="2779267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上課期間老師全心在孩子身上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499" y="4006850"/>
            <a:ext cx="3575811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老師會利用課間空檔或放學後詳細回覆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499" y="4362450"/>
            <a:ext cx="2978403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歡迎隨時留言，不必擔心打擾！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5399" y="2019299"/>
            <a:ext cx="1299971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</a:rPr>
              <a:t>緊急突發狀況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2999" y="2432049"/>
            <a:ext cx="2580131" cy="4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50" b="1">
                <a:solidFill>
                  <a:srgbClr val="E88D67"/>
                </a:solidFill>
                <a:latin typeface="Microsoft JhengHei"/>
                <a:ea typeface="Microsoft JhengHei"/>
              </a:rPr>
              <a:t>導師專線電話直撥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899" y="3130549"/>
            <a:ext cx="873251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專線直撥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5999" y="3067050"/>
            <a:ext cx="3774947" cy="4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50" b="1">
                <a:solidFill>
                  <a:srgbClr val="2C5E8A"/>
                </a:solidFill>
                <a:latin typeface="Microsoft JhengHei"/>
                <a:ea typeface="Microsoft JhengHei"/>
              </a:rPr>
              <a:t>0963-159-896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999" y="3797300"/>
            <a:ext cx="2779267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孩子突發身體急症或意外受傷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999" y="4152899"/>
            <a:ext cx="2779267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早晨臨時請假需即時口頭通報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999" y="4508500"/>
            <a:ext cx="4173219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提醒：若遇忙線未接，老師一看到立刻回撥！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" y="5289550"/>
            <a:ext cx="1442211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高老師的溝通原則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99" y="5575300"/>
            <a:ext cx="9749027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2D3748"/>
                </a:solidFill>
                <a:latin typeface="Microsoft JhengHei"/>
                <a:ea typeface="Microsoft JhengHei"/>
              </a:rPr>
              <a:t>「孩子有任何狀況，請第一時間與我聯繫。我們坦誠對話、互相合作，讓小問題在第一時間得到最好照顧。」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mes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26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7217155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給家長的一封信：並肩走一段平穩堅定的路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610768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六年級是童年的尾聲，也是青春的序曲・讓我們給予孩子展翅飛翔的底氣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99" y="2019299"/>
            <a:ext cx="1385315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導師的心裡話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99" y="2400300"/>
            <a:ext cx="1556003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C5E8A"/>
                </a:solidFill>
                <a:latin typeface="Microsoft JhengHei"/>
                <a:ea typeface="Microsoft JhengHei"/>
              </a:rPr>
              <a:t>親愛的家長：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99" y="2844799"/>
            <a:ext cx="4521707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75" b="0">
                <a:solidFill>
                  <a:srgbClr val="2D3748"/>
                </a:solidFill>
                <a:latin typeface="Microsoft JhengHei"/>
                <a:ea typeface="Microsoft JhengHei"/>
              </a:rPr>
              <a:t>六年級，是小學階段最特別、也最關鍵的一年。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2999" y="3149600"/>
            <a:ext cx="8646667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75" b="0">
                <a:solidFill>
                  <a:srgbClr val="2D3748"/>
                </a:solidFill>
                <a:latin typeface="Microsoft JhengHei"/>
                <a:ea typeface="Microsoft JhengHei"/>
              </a:rPr>
              <a:t>孩子正在經歷從依賴走向獨立的拔節時刻，他們渴望證明自己，心底卻極度需要大人的支持。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2999" y="3594100"/>
            <a:ext cx="723137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E88D67"/>
                </a:solidFill>
                <a:latin typeface="Microsoft JhengHei"/>
                <a:ea typeface="Microsoft JhengHei"/>
              </a:rPr>
              <a:t>我們無法替孩子走完人生的每一步路，也無法替他經歷所有的考試與挫折；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99" y="3898899"/>
            <a:ext cx="4109211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75" b="0">
                <a:solidFill>
                  <a:srgbClr val="2D3748"/>
                </a:solidFill>
                <a:latin typeface="Microsoft JhengHei"/>
                <a:ea typeface="Microsoft JhengHei"/>
              </a:rPr>
              <a:t>但我們可以在他跑累的時候遞上一杯溫水，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2999" y="4203700"/>
            <a:ext cx="595121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1">
                <a:solidFill>
                  <a:srgbClr val="E88D67"/>
                </a:solidFill>
                <a:latin typeface="Microsoft JhengHei"/>
                <a:ea typeface="Microsoft JhengHei"/>
              </a:rPr>
              <a:t>在他跌倒時抱抱他，讓他明白——他隨時可以再勇敢站起來。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2999" y="4648200"/>
            <a:ext cx="5424931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C5E8A"/>
                </a:solidFill>
                <a:latin typeface="Microsoft JhengHei"/>
                <a:ea typeface="Microsoft JhengHei"/>
              </a:rPr>
              <a:t>感謝各位家長六年來的悉心灌溉。小學的最後一年，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2999" y="4952999"/>
            <a:ext cx="7615427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75" b="0">
                <a:solidFill>
                  <a:srgbClr val="2D3748"/>
                </a:solidFill>
                <a:latin typeface="Microsoft JhengHei"/>
                <a:ea typeface="Microsoft JhengHei"/>
              </a:rPr>
              <a:t>高老師會竭盡全力陪伴六年一班的每一個孩子，帶著豐盛的勇氣與愛，航向未來！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4999" y="5289550"/>
            <a:ext cx="3334003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C5E8A"/>
                </a:solidFill>
                <a:latin typeface="Microsoft JhengHei"/>
                <a:ea typeface="Microsoft JhengHei"/>
              </a:rPr>
              <a:t>六年一班導師 高志賢 敬上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27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5368035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感謝聆聽．交流時間（Q&amp;A）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6477507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臺中市沙鹿區鹿陽國民小學 六年一班・讓我們一起成為孩子最好的神隊友！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899" y="1987550"/>
            <a:ext cx="1385315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現場互動環節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99" y="2368550"/>
            <a:ext cx="3134867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2C5E8A"/>
                </a:solidFill>
                <a:latin typeface="Microsoft JhengHei"/>
                <a:ea typeface="Microsoft JhengHei"/>
              </a:rPr>
              <a:t>自由提問與意見分享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499" y="2940050"/>
            <a:ext cx="164134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E88D67"/>
                </a:solidFill>
                <a:latin typeface="Microsoft JhengHei"/>
                <a:ea typeface="Microsoft JhengHei"/>
              </a:rPr>
              <a:t>自由提問交流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499" y="3232149"/>
            <a:ext cx="4372355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對孩子學習、作息與常規有任何想法均可提出。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499" y="3587749"/>
            <a:ext cx="164134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E88D67"/>
                </a:solidFill>
                <a:latin typeface="Microsoft JhengHei"/>
                <a:ea typeface="Microsoft JhengHei"/>
              </a:rPr>
              <a:t>班親幹部推選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499" y="3879850"/>
            <a:ext cx="4969763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現場推選班親會「會長」與「總務」，共同把關經費。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499" y="4235449"/>
            <a:ext cx="164134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E88D67"/>
                </a:solidFill>
                <a:latin typeface="Microsoft JhengHei"/>
                <a:ea typeface="Microsoft JhengHei"/>
              </a:rPr>
              <a:t>畢業專案討論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499" y="4527550"/>
            <a:ext cx="4173219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畢業旅行期望、活動規劃與紀念冊製作交流。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499" y="4883150"/>
            <a:ext cx="164134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E88D67"/>
                </a:solidFill>
                <a:latin typeface="Microsoft JhengHei"/>
                <a:ea typeface="Microsoft JhengHei"/>
              </a:rPr>
              <a:t>填寫回饋表單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499" y="5175250"/>
            <a:ext cx="5368035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JhengHei"/>
                <a:ea typeface="Microsoft JhengHei"/>
              </a:rPr>
              <a:t>歡迎家長掃描 QR Code 或填寫紙本，提供建言。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399" y="1987550"/>
            <a:ext cx="1584451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</a:rPr>
              <a:t>親師聯繫總整理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999" y="2368550"/>
            <a:ext cx="3134867" cy="438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58A47E"/>
                </a:solidFill>
                <a:latin typeface="Microsoft JhengHei"/>
                <a:ea typeface="Microsoft JhengHei"/>
              </a:rPr>
              <a:t>陪伴孩子，隨時連線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49" y="3003549"/>
            <a:ext cx="1470659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C5E8A"/>
                </a:solidFill>
                <a:latin typeface="Microsoft JhengHei"/>
                <a:ea typeface="Microsoft JhengHei"/>
              </a:rPr>
              <a:t>平常溝通：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49" y="3314700"/>
            <a:ext cx="4287011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0">
                <a:solidFill>
                  <a:srgbClr val="2D3748"/>
                </a:solidFill>
                <a:latin typeface="Microsoft JhengHei"/>
                <a:ea typeface="Microsoft JhengHei"/>
              </a:rPr>
              <a:t>LINE 官方班級社群 / 私訊留言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49" y="3829050"/>
            <a:ext cx="3518915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C5E8A"/>
                </a:solidFill>
                <a:latin typeface="Microsoft JhengHei"/>
                <a:ea typeface="Microsoft JhengHei"/>
              </a:rPr>
              <a:t>導師專線手機（緊急直撥）：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49" y="4140200"/>
            <a:ext cx="3945635" cy="4190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300" b="1">
                <a:solidFill>
                  <a:srgbClr val="E88D67"/>
                </a:solidFill>
                <a:latin typeface="Microsoft JhengHei"/>
                <a:ea typeface="Microsoft JhengHei"/>
              </a:rPr>
              <a:t>0963-159-896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49" y="4654550"/>
            <a:ext cx="3518915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C5E8A"/>
                </a:solidFill>
                <a:latin typeface="Microsoft JhengHei"/>
                <a:ea typeface="Microsoft JhengHei"/>
              </a:rPr>
              <a:t>學校總機（差勤請假專線）：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2749" y="4965700"/>
            <a:ext cx="529209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0">
                <a:solidFill>
                  <a:srgbClr val="2D3748"/>
                </a:solidFill>
                <a:latin typeface="Microsoft JhengHei"/>
                <a:ea typeface="Microsoft JhengHei"/>
              </a:rPr>
              <a:t>04-26567968（分機 720 / 724）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remi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399" y="336550"/>
            <a:ext cx="347624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臺中市沙鹿區鹿陽國民小學 六年一班 班親會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499" y="317500"/>
            <a:ext cx="157734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718096"/>
                </a:solidFill>
                <a:latin typeface="Microsoft JhengHei"/>
                <a:ea typeface="Microsoft JhengHei"/>
              </a:rPr>
              <a:t>PAGE 28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9" y="717550"/>
            <a:ext cx="6847331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2D3748"/>
                </a:solidFill>
                <a:latin typeface="Microsoft JhengHei"/>
                <a:ea typeface="Microsoft JhengHei"/>
              </a:rPr>
              <a:t>現場重要提醒：今日親師會三大必辦事項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99" y="1162050"/>
            <a:ext cx="5552947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718096"/>
                </a:solidFill>
                <a:latin typeface="Microsoft JhengHei"/>
                <a:ea typeface="Microsoft JhengHei"/>
              </a:rPr>
              <a:t>感謝各位家長熱情參與・離席前請協助確認完成以下三大核心要事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399" y="1860550"/>
            <a:ext cx="138531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必辦要事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999" y="2209800"/>
            <a:ext cx="164134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2C5E8A"/>
                </a:solidFill>
                <a:latin typeface="Microsoft JhengHei"/>
                <a:ea typeface="Microsoft JhengHei"/>
              </a:rPr>
              <a:t>家長出席簽到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199" y="2616200"/>
            <a:ext cx="1406651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1">
                <a:solidFill>
                  <a:srgbClr val="2C5E8A"/>
                </a:solidFill>
                <a:latin typeface="Microsoft JhengHei"/>
                <a:ea typeface="Microsoft JhengHei"/>
              </a:rPr>
              <a:t>出席確認與資料領取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749" y="3003549"/>
            <a:ext cx="1726691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確認已於簽到表簽名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749" y="3460749"/>
            <a:ext cx="155600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掌握班級出席名冊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749" y="3917950"/>
            <a:ext cx="155600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領取各處室通知單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749" y="4375150"/>
            <a:ext cx="155600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確保通訊管道暢通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3149" y="1860550"/>
            <a:ext cx="138531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必辦要事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0749" y="2209800"/>
            <a:ext cx="1883155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E88D67"/>
                </a:solidFill>
                <a:latin typeface="Microsoft JhengHei"/>
                <a:ea typeface="Microsoft JhengHei"/>
              </a:rPr>
              <a:t>會長及總務推選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6949" y="2616200"/>
            <a:ext cx="1271523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1">
                <a:solidFill>
                  <a:srgbClr val="E88D67"/>
                </a:solidFill>
                <a:latin typeface="Microsoft JhengHei"/>
                <a:ea typeface="Microsoft JhengHei"/>
              </a:rPr>
              <a:t>班親自治核心團隊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499" y="3003549"/>
            <a:ext cx="22387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推選確認 601「會長」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499" y="3460749"/>
            <a:ext cx="18973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推選確認「總務幹部」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499" y="3917950"/>
            <a:ext cx="18973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共同把關畢業各項經費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499" y="4375150"/>
            <a:ext cx="1726691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親師攜手做最強後援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899" y="1860550"/>
            <a:ext cx="138531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必辦要事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499" y="2209800"/>
            <a:ext cx="1641347" cy="323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50" b="1">
                <a:solidFill>
                  <a:srgbClr val="58A47E"/>
                </a:solidFill>
                <a:latin typeface="Microsoft JhengHei"/>
                <a:ea typeface="Microsoft JhengHei"/>
              </a:rPr>
              <a:t>愛心志工意願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2699" y="2616200"/>
            <a:ext cx="1271523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1">
                <a:solidFill>
                  <a:srgbClr val="58A47E"/>
                </a:solidFill>
                <a:latin typeface="Microsoft JhengHei"/>
                <a:ea typeface="Microsoft JhengHei"/>
              </a:rPr>
              <a:t>守護學童溫暖力量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5249" y="3003549"/>
            <a:ext cx="206806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交通組：上放學路口導護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5249" y="3460749"/>
            <a:ext cx="18973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圖書組：晨間書籍借還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5249" y="3917950"/>
            <a:ext cx="18973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現場向高老師登記報名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5249" y="4375150"/>
            <a:ext cx="18973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Microsoft JhengHei"/>
                <a:ea typeface="Microsoft JhengHei"/>
              </a:rPr>
              <a:t>或填妥回條由孩子帶來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4649" y="1860550"/>
            <a:ext cx="121462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班親專屬網站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2249" y="2209800"/>
            <a:ext cx="2011171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2C5E8A"/>
                </a:solidFill>
                <a:latin typeface="Microsoft JhengHei"/>
                <a:ea typeface="Microsoft JhengHei"/>
              </a:rPr>
              <a:t>掃描帶走電子手冊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99" y="4273550"/>
            <a:ext cx="1911603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2D3748"/>
                </a:solidFill>
                <a:latin typeface="Microsoft JhengHei"/>
                <a:ea typeface="Microsoft JhengHei"/>
              </a:rPr>
              <a:t>手機隨身查閱・轉傳家人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3999" y="4527550"/>
            <a:ext cx="2352547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0">
                <a:solidFill>
                  <a:srgbClr val="718096"/>
                </a:solidFill>
                <a:latin typeface="Microsoft JhengHei"/>
                <a:ea typeface="Microsoft JhengHei"/>
              </a:rPr>
              <a:t>完整簡報 × 評量 × 畢冊報價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3999" y="4781549"/>
            <a:ext cx="291084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2C5E8A"/>
                </a:solidFill>
                <a:latin typeface="Microsoft JhengHei"/>
                <a:ea typeface="Microsoft JhengHei"/>
              </a:rPr>
              <a:t>clive520.github.io/parent-meeting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899" y="5511800"/>
            <a:ext cx="1285747" cy="2095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</a:rPr>
              <a:t>導師感謝與叮嚀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499" y="5753099"/>
            <a:ext cx="8753347" cy="266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2C5E8A"/>
                </a:solidFill>
                <a:latin typeface="Microsoft JhengHei"/>
                <a:ea typeface="Microsoft JhengHei"/>
              </a:rPr>
              <a:t>「再次誠摯感謝各位爸爸媽媽的蒞臨與支持！六年一班有您真好，夜深天涼，返家請注意安全！」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